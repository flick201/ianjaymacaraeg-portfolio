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Archivo Narrow" panose="020B0604020202020204" charset="0"/>
      <p:regular r:id="rId21"/>
    </p:embeddedFont>
    <p:embeddedFont>
      <p:font typeface="Archivo Narrow Bold" panose="020B0604020202020204" charset="0"/>
      <p:regular r:id="rId22"/>
    </p:embeddedFont>
    <p:embeddedFont>
      <p:font typeface="Bricolage Grotesque" panose="020B0604020202020204" charset="0"/>
      <p:regular r:id="rId23"/>
    </p:embeddedFont>
    <p:embeddedFont>
      <p:font typeface="Glacial Indifference" panose="020B0604020202020204" charset="0"/>
      <p:regular r:id="rId24"/>
    </p:embeddedFont>
    <p:embeddedFont>
      <p:font typeface="Glacial Indifference Bold" panose="020B0604020202020204" charset="0"/>
      <p:regular r:id="rId25"/>
    </p:embeddedFont>
    <p:embeddedFont>
      <p:font typeface="Norwester"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1" d="100"/>
          <a:sy n="71" d="100"/>
        </p:scale>
        <p:origin x="714"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jpeg"/><Relationship Id="rId3" Type="http://schemas.openxmlformats.org/officeDocument/2006/relationships/image" Target="../media/image2.jpeg"/><Relationship Id="rId7" Type="http://schemas.openxmlformats.org/officeDocument/2006/relationships/image" Target="../media/image6.png"/><Relationship Id="rId12"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 Id="rId14" Type="http://schemas.openxmlformats.org/officeDocument/2006/relationships/image" Target="../media/image13.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jpeg"/><Relationship Id="rId3" Type="http://schemas.openxmlformats.org/officeDocument/2006/relationships/image" Target="../media/image1.png"/><Relationship Id="rId7" Type="http://schemas.openxmlformats.org/officeDocument/2006/relationships/image" Target="../media/image17.png"/><Relationship Id="rId12" Type="http://schemas.openxmlformats.org/officeDocument/2006/relationships/image" Target="../media/image22.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jpeg"/><Relationship Id="rId10" Type="http://schemas.openxmlformats.org/officeDocument/2006/relationships/image" Target="../media/image20.jpeg"/><Relationship Id="rId4" Type="http://schemas.openxmlformats.org/officeDocument/2006/relationships/image" Target="../media/image2.jpe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6.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27.jpe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2.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4.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3.jpeg"/><Relationship Id="rId5" Type="http://schemas.openxmlformats.org/officeDocument/2006/relationships/image" Target="../media/image10.jpeg"/><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7.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0.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21.png"/><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image" Target="../media/image1.png"/><Relationship Id="rId7" Type="http://schemas.openxmlformats.org/officeDocument/2006/relationships/image" Target="../media/image42.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8.jpeg"/><Relationship Id="rId10" Type="http://schemas.openxmlformats.org/officeDocument/2006/relationships/image" Target="../media/image45.jpeg"/><Relationship Id="rId4" Type="http://schemas.openxmlformats.org/officeDocument/2006/relationships/image" Target="../media/image2.jpeg"/><Relationship Id="rId9" Type="http://schemas.openxmlformats.org/officeDocument/2006/relationships/image" Target="../media/image4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51081" cy="10287000"/>
            <a:chOff x="0" y="0"/>
            <a:chExt cx="4833207" cy="2709333"/>
          </a:xfrm>
        </p:grpSpPr>
        <p:sp>
          <p:nvSpPr>
            <p:cNvPr id="3" name="Freeform 3"/>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4" name="TextBox 4"/>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25000"/>
            </a:blip>
            <a:stretch>
              <a:fillRect/>
            </a:stretch>
          </a:blipFill>
        </p:spPr>
      </p:sp>
      <p:grpSp>
        <p:nvGrpSpPr>
          <p:cNvPr id="6" name="Group 6"/>
          <p:cNvGrpSpPr/>
          <p:nvPr/>
        </p:nvGrpSpPr>
        <p:grpSpPr>
          <a:xfrm>
            <a:off x="-1948325" y="9391650"/>
            <a:ext cx="23288625" cy="1263015"/>
            <a:chOff x="0" y="0"/>
            <a:chExt cx="31051500" cy="1684020"/>
          </a:xfrm>
        </p:grpSpPr>
        <p:sp>
          <p:nvSpPr>
            <p:cNvPr id="7" name="Freeform 7"/>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3"/>
              <a:stretch>
                <a:fillRect/>
              </a:stretch>
            </a:blipFill>
          </p:spPr>
        </p:sp>
        <p:sp>
          <p:nvSpPr>
            <p:cNvPr id="8" name="Freeform 8"/>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3"/>
              <a:stretch>
                <a:fillRect/>
              </a:stretch>
            </a:blipFill>
          </p:spPr>
        </p:sp>
        <p:sp>
          <p:nvSpPr>
            <p:cNvPr id="9" name="Freeform 9"/>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3"/>
              <a:stretch>
                <a:fillRect/>
              </a:stretch>
            </a:blipFill>
          </p:spPr>
        </p:sp>
      </p:grpSp>
      <p:grpSp>
        <p:nvGrpSpPr>
          <p:cNvPr id="10" name="Group 10"/>
          <p:cNvGrpSpPr/>
          <p:nvPr/>
        </p:nvGrpSpPr>
        <p:grpSpPr>
          <a:xfrm>
            <a:off x="-2500312" y="-329565"/>
            <a:ext cx="23288625" cy="1263015"/>
            <a:chOff x="0" y="0"/>
            <a:chExt cx="31051500" cy="1684020"/>
          </a:xfrm>
        </p:grpSpPr>
        <p:sp>
          <p:nvSpPr>
            <p:cNvPr id="11" name="Freeform 11"/>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3"/>
              <a:stretch>
                <a:fillRect/>
              </a:stretch>
            </a:blipFill>
          </p:spPr>
        </p:sp>
        <p:sp>
          <p:nvSpPr>
            <p:cNvPr id="12" name="Freeform 12"/>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3"/>
              <a:stretch>
                <a:fillRect/>
              </a:stretch>
            </a:blipFill>
          </p:spPr>
        </p:sp>
        <p:sp>
          <p:nvSpPr>
            <p:cNvPr id="13" name="Freeform 13"/>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3"/>
              <a:stretch>
                <a:fillRect/>
              </a:stretch>
            </a:blipFill>
          </p:spPr>
        </p:sp>
      </p:grpSp>
      <p:sp>
        <p:nvSpPr>
          <p:cNvPr id="14" name="Freeform 14"/>
          <p:cNvSpPr/>
          <p:nvPr/>
        </p:nvSpPr>
        <p:spPr>
          <a:xfrm>
            <a:off x="2558774" y="1579590"/>
            <a:ext cx="1419892" cy="1429421"/>
          </a:xfrm>
          <a:custGeom>
            <a:avLst/>
            <a:gdLst/>
            <a:ahLst/>
            <a:cxnLst/>
            <a:rect l="l" t="t" r="r" b="b"/>
            <a:pathLst>
              <a:path w="1419892" h="1429421">
                <a:moveTo>
                  <a:pt x="0" y="0"/>
                </a:moveTo>
                <a:lnTo>
                  <a:pt x="1419892" y="0"/>
                </a:lnTo>
                <a:lnTo>
                  <a:pt x="1419892" y="1429421"/>
                </a:lnTo>
                <a:lnTo>
                  <a:pt x="0" y="1429421"/>
                </a:lnTo>
                <a:lnTo>
                  <a:pt x="0" y="0"/>
                </a:lnTo>
                <a:close/>
              </a:path>
            </a:pathLst>
          </a:custGeom>
          <a:blipFill>
            <a:blip r:embed="rId4"/>
            <a:stretch>
              <a:fillRect/>
            </a:stretch>
          </a:blipFill>
        </p:spPr>
      </p:sp>
      <p:sp>
        <p:nvSpPr>
          <p:cNvPr id="15" name="Freeform 15"/>
          <p:cNvSpPr/>
          <p:nvPr/>
        </p:nvSpPr>
        <p:spPr>
          <a:xfrm>
            <a:off x="4560807" y="1579590"/>
            <a:ext cx="1450991" cy="1462599"/>
          </a:xfrm>
          <a:custGeom>
            <a:avLst/>
            <a:gdLst/>
            <a:ahLst/>
            <a:cxnLst/>
            <a:rect l="l" t="t" r="r" b="b"/>
            <a:pathLst>
              <a:path w="1450991" h="1462599">
                <a:moveTo>
                  <a:pt x="0" y="0"/>
                </a:moveTo>
                <a:lnTo>
                  <a:pt x="1450991" y="0"/>
                </a:lnTo>
                <a:lnTo>
                  <a:pt x="1450991" y="1462599"/>
                </a:lnTo>
                <a:lnTo>
                  <a:pt x="0" y="1462599"/>
                </a:lnTo>
                <a:lnTo>
                  <a:pt x="0" y="0"/>
                </a:lnTo>
                <a:close/>
              </a:path>
            </a:pathLst>
          </a:custGeom>
          <a:blipFill>
            <a:blip r:embed="rId5"/>
            <a:stretch>
              <a:fillRect/>
            </a:stretch>
          </a:blipFill>
        </p:spPr>
      </p:sp>
      <p:grpSp>
        <p:nvGrpSpPr>
          <p:cNvPr id="16" name="Group 16"/>
          <p:cNvGrpSpPr/>
          <p:nvPr/>
        </p:nvGrpSpPr>
        <p:grpSpPr>
          <a:xfrm>
            <a:off x="677157" y="7472894"/>
            <a:ext cx="4555311" cy="1785406"/>
            <a:chOff x="0" y="0"/>
            <a:chExt cx="1555343" cy="609600"/>
          </a:xfrm>
        </p:grpSpPr>
        <p:sp>
          <p:nvSpPr>
            <p:cNvPr id="17" name="Freeform 17"/>
            <p:cNvSpPr/>
            <p:nvPr/>
          </p:nvSpPr>
          <p:spPr>
            <a:xfrm>
              <a:off x="0" y="0"/>
              <a:ext cx="1555343" cy="609600"/>
            </a:xfrm>
            <a:custGeom>
              <a:avLst/>
              <a:gdLst/>
              <a:ahLst/>
              <a:cxnLst/>
              <a:rect l="l" t="t" r="r" b="b"/>
              <a:pathLst>
                <a:path w="1555343" h="609600">
                  <a:moveTo>
                    <a:pt x="203200" y="0"/>
                  </a:moveTo>
                  <a:lnTo>
                    <a:pt x="1555343" y="0"/>
                  </a:lnTo>
                  <a:lnTo>
                    <a:pt x="1352143" y="609600"/>
                  </a:lnTo>
                  <a:lnTo>
                    <a:pt x="0" y="609600"/>
                  </a:lnTo>
                  <a:lnTo>
                    <a:pt x="203200" y="0"/>
                  </a:lnTo>
                  <a:close/>
                </a:path>
              </a:pathLst>
            </a:custGeom>
            <a:blipFill>
              <a:blip r:embed="rId6">
                <a:alphaModFix amt="90000"/>
              </a:blip>
              <a:stretch>
                <a:fillRect t="-45678" b="-45678"/>
              </a:stretch>
            </a:blipFill>
          </p:spPr>
        </p:sp>
      </p:grpSp>
      <p:grpSp>
        <p:nvGrpSpPr>
          <p:cNvPr id="18" name="Group 18"/>
          <p:cNvGrpSpPr/>
          <p:nvPr/>
        </p:nvGrpSpPr>
        <p:grpSpPr>
          <a:xfrm>
            <a:off x="4789133" y="7472894"/>
            <a:ext cx="4555311" cy="1785406"/>
            <a:chOff x="0" y="0"/>
            <a:chExt cx="1555343" cy="609600"/>
          </a:xfrm>
        </p:grpSpPr>
        <p:sp>
          <p:nvSpPr>
            <p:cNvPr id="19" name="Freeform 19"/>
            <p:cNvSpPr/>
            <p:nvPr/>
          </p:nvSpPr>
          <p:spPr>
            <a:xfrm>
              <a:off x="0" y="0"/>
              <a:ext cx="1555343" cy="609600"/>
            </a:xfrm>
            <a:custGeom>
              <a:avLst/>
              <a:gdLst/>
              <a:ahLst/>
              <a:cxnLst/>
              <a:rect l="l" t="t" r="r" b="b"/>
              <a:pathLst>
                <a:path w="1555343" h="609600">
                  <a:moveTo>
                    <a:pt x="203200" y="0"/>
                  </a:moveTo>
                  <a:lnTo>
                    <a:pt x="1555343" y="0"/>
                  </a:lnTo>
                  <a:lnTo>
                    <a:pt x="1352143" y="609600"/>
                  </a:lnTo>
                  <a:lnTo>
                    <a:pt x="0" y="609600"/>
                  </a:lnTo>
                  <a:lnTo>
                    <a:pt x="203200" y="0"/>
                  </a:lnTo>
                  <a:close/>
                </a:path>
              </a:pathLst>
            </a:custGeom>
            <a:blipFill>
              <a:blip r:embed="rId7">
                <a:alphaModFix amt="90000"/>
              </a:blip>
              <a:stretch>
                <a:fillRect t="-34834" b="-34834"/>
              </a:stretch>
            </a:blipFill>
          </p:spPr>
        </p:sp>
      </p:grpSp>
      <p:grpSp>
        <p:nvGrpSpPr>
          <p:cNvPr id="20" name="Group 20"/>
          <p:cNvGrpSpPr/>
          <p:nvPr/>
        </p:nvGrpSpPr>
        <p:grpSpPr>
          <a:xfrm>
            <a:off x="8890672" y="7483694"/>
            <a:ext cx="4555311" cy="1785406"/>
            <a:chOff x="0" y="0"/>
            <a:chExt cx="1555343" cy="609600"/>
          </a:xfrm>
        </p:grpSpPr>
        <p:sp>
          <p:nvSpPr>
            <p:cNvPr id="21" name="Freeform 21"/>
            <p:cNvSpPr/>
            <p:nvPr/>
          </p:nvSpPr>
          <p:spPr>
            <a:xfrm>
              <a:off x="0" y="0"/>
              <a:ext cx="1555343" cy="609600"/>
            </a:xfrm>
            <a:custGeom>
              <a:avLst/>
              <a:gdLst/>
              <a:ahLst/>
              <a:cxnLst/>
              <a:rect l="l" t="t" r="r" b="b"/>
              <a:pathLst>
                <a:path w="1555343" h="609600">
                  <a:moveTo>
                    <a:pt x="203200" y="0"/>
                  </a:moveTo>
                  <a:lnTo>
                    <a:pt x="1555343" y="0"/>
                  </a:lnTo>
                  <a:lnTo>
                    <a:pt x="1352143" y="609600"/>
                  </a:lnTo>
                  <a:lnTo>
                    <a:pt x="0" y="609600"/>
                  </a:lnTo>
                  <a:lnTo>
                    <a:pt x="203200" y="0"/>
                  </a:lnTo>
                  <a:close/>
                </a:path>
              </a:pathLst>
            </a:custGeom>
            <a:blipFill>
              <a:blip r:embed="rId8">
                <a:alphaModFix amt="90000"/>
              </a:blip>
              <a:stretch>
                <a:fillRect t="-21758" b="-21758"/>
              </a:stretch>
            </a:blipFill>
          </p:spPr>
        </p:sp>
      </p:grpSp>
      <p:grpSp>
        <p:nvGrpSpPr>
          <p:cNvPr id="22" name="Group 22"/>
          <p:cNvGrpSpPr/>
          <p:nvPr/>
        </p:nvGrpSpPr>
        <p:grpSpPr>
          <a:xfrm>
            <a:off x="12998382" y="7472894"/>
            <a:ext cx="4555311" cy="1785406"/>
            <a:chOff x="0" y="0"/>
            <a:chExt cx="1555343" cy="609600"/>
          </a:xfrm>
        </p:grpSpPr>
        <p:sp>
          <p:nvSpPr>
            <p:cNvPr id="23" name="Freeform 23"/>
            <p:cNvSpPr/>
            <p:nvPr/>
          </p:nvSpPr>
          <p:spPr>
            <a:xfrm>
              <a:off x="0" y="0"/>
              <a:ext cx="1555343" cy="609600"/>
            </a:xfrm>
            <a:custGeom>
              <a:avLst/>
              <a:gdLst/>
              <a:ahLst/>
              <a:cxnLst/>
              <a:rect l="l" t="t" r="r" b="b"/>
              <a:pathLst>
                <a:path w="1555343" h="609600">
                  <a:moveTo>
                    <a:pt x="203200" y="0"/>
                  </a:moveTo>
                  <a:lnTo>
                    <a:pt x="1555343" y="0"/>
                  </a:lnTo>
                  <a:lnTo>
                    <a:pt x="1352143" y="609600"/>
                  </a:lnTo>
                  <a:lnTo>
                    <a:pt x="0" y="609600"/>
                  </a:lnTo>
                  <a:lnTo>
                    <a:pt x="203200" y="0"/>
                  </a:lnTo>
                  <a:close/>
                </a:path>
              </a:pathLst>
            </a:custGeom>
            <a:blipFill>
              <a:blip r:embed="rId9">
                <a:alphaModFix amt="90000"/>
              </a:blip>
              <a:stretch>
                <a:fillRect t="-45678" b="-45678"/>
              </a:stretch>
            </a:blipFill>
          </p:spPr>
        </p:sp>
      </p:grpSp>
      <p:grpSp>
        <p:nvGrpSpPr>
          <p:cNvPr id="24" name="Group 24"/>
          <p:cNvGrpSpPr/>
          <p:nvPr/>
        </p:nvGrpSpPr>
        <p:grpSpPr>
          <a:xfrm>
            <a:off x="12285902" y="1560251"/>
            <a:ext cx="3141136" cy="1647840"/>
            <a:chOff x="0" y="0"/>
            <a:chExt cx="6350000" cy="3331210"/>
          </a:xfrm>
        </p:grpSpPr>
        <p:sp>
          <p:nvSpPr>
            <p:cNvPr id="25" name="Freeform 25"/>
            <p:cNvSpPr/>
            <p:nvPr/>
          </p:nvSpPr>
          <p:spPr>
            <a:xfrm>
              <a:off x="0" y="0"/>
              <a:ext cx="6350000" cy="3331210"/>
            </a:xfrm>
            <a:custGeom>
              <a:avLst/>
              <a:gdLst/>
              <a:ahLst/>
              <a:cxnLst/>
              <a:rect l="l" t="t" r="r" b="b"/>
              <a:pathLst>
                <a:path w="6350000" h="3331210">
                  <a:moveTo>
                    <a:pt x="6209030" y="0"/>
                  </a:moveTo>
                  <a:lnTo>
                    <a:pt x="140970" y="0"/>
                  </a:lnTo>
                  <a:cubicBezTo>
                    <a:pt x="63500" y="0"/>
                    <a:pt x="0" y="62230"/>
                    <a:pt x="0" y="138430"/>
                  </a:cubicBezTo>
                  <a:lnTo>
                    <a:pt x="0" y="3192780"/>
                  </a:lnTo>
                  <a:cubicBezTo>
                    <a:pt x="0" y="3268980"/>
                    <a:pt x="63500" y="3331210"/>
                    <a:pt x="140970" y="3331210"/>
                  </a:cubicBezTo>
                  <a:lnTo>
                    <a:pt x="6209030" y="3331210"/>
                  </a:lnTo>
                  <a:cubicBezTo>
                    <a:pt x="6286500" y="3331210"/>
                    <a:pt x="6350000" y="3268980"/>
                    <a:pt x="6350000" y="3192780"/>
                  </a:cubicBezTo>
                  <a:lnTo>
                    <a:pt x="6350000" y="138430"/>
                  </a:lnTo>
                  <a:cubicBezTo>
                    <a:pt x="6350000" y="62230"/>
                    <a:pt x="6286500" y="0"/>
                    <a:pt x="6209030" y="0"/>
                  </a:cubicBezTo>
                  <a:close/>
                </a:path>
              </a:pathLst>
            </a:custGeom>
            <a:blipFill>
              <a:blip r:embed="rId10">
                <a:alphaModFix amt="90000"/>
              </a:blip>
              <a:stretch>
                <a:fillRect t="-77080" b="-77080"/>
              </a:stretch>
            </a:blipFill>
            <a:ln cap="sq">
              <a:noFill/>
              <a:prstDash val="solid"/>
              <a:miter/>
            </a:ln>
          </p:spPr>
        </p:sp>
      </p:grpSp>
      <p:grpSp>
        <p:nvGrpSpPr>
          <p:cNvPr id="26" name="Group 26"/>
          <p:cNvGrpSpPr/>
          <p:nvPr/>
        </p:nvGrpSpPr>
        <p:grpSpPr>
          <a:xfrm>
            <a:off x="12285902" y="3379252"/>
            <a:ext cx="3141136" cy="1647840"/>
            <a:chOff x="0" y="0"/>
            <a:chExt cx="6350000" cy="3331210"/>
          </a:xfrm>
        </p:grpSpPr>
        <p:sp>
          <p:nvSpPr>
            <p:cNvPr id="27" name="Freeform 27"/>
            <p:cNvSpPr/>
            <p:nvPr/>
          </p:nvSpPr>
          <p:spPr>
            <a:xfrm>
              <a:off x="0" y="0"/>
              <a:ext cx="6350000" cy="3331210"/>
            </a:xfrm>
            <a:custGeom>
              <a:avLst/>
              <a:gdLst/>
              <a:ahLst/>
              <a:cxnLst/>
              <a:rect l="l" t="t" r="r" b="b"/>
              <a:pathLst>
                <a:path w="6350000" h="3331210">
                  <a:moveTo>
                    <a:pt x="6209030" y="0"/>
                  </a:moveTo>
                  <a:lnTo>
                    <a:pt x="140970" y="0"/>
                  </a:lnTo>
                  <a:cubicBezTo>
                    <a:pt x="63500" y="0"/>
                    <a:pt x="0" y="62230"/>
                    <a:pt x="0" y="138430"/>
                  </a:cubicBezTo>
                  <a:lnTo>
                    <a:pt x="0" y="3192780"/>
                  </a:lnTo>
                  <a:cubicBezTo>
                    <a:pt x="0" y="3268980"/>
                    <a:pt x="63500" y="3331210"/>
                    <a:pt x="140970" y="3331210"/>
                  </a:cubicBezTo>
                  <a:lnTo>
                    <a:pt x="6209030" y="3331210"/>
                  </a:lnTo>
                  <a:cubicBezTo>
                    <a:pt x="6286500" y="3331210"/>
                    <a:pt x="6350000" y="3268980"/>
                    <a:pt x="6350000" y="3192780"/>
                  </a:cubicBezTo>
                  <a:lnTo>
                    <a:pt x="6350000" y="138430"/>
                  </a:lnTo>
                  <a:cubicBezTo>
                    <a:pt x="6350000" y="62230"/>
                    <a:pt x="6286500" y="0"/>
                    <a:pt x="6209030" y="0"/>
                  </a:cubicBezTo>
                  <a:close/>
                </a:path>
              </a:pathLst>
            </a:custGeom>
            <a:blipFill>
              <a:blip r:embed="rId11">
                <a:alphaModFix amt="90000"/>
              </a:blip>
              <a:stretch>
                <a:fillRect t="-21483" b="-21483"/>
              </a:stretch>
            </a:blipFill>
            <a:ln cap="sq">
              <a:noFill/>
              <a:prstDash val="solid"/>
              <a:miter/>
            </a:ln>
          </p:spPr>
        </p:sp>
      </p:grpSp>
      <p:grpSp>
        <p:nvGrpSpPr>
          <p:cNvPr id="28" name="Group 28"/>
          <p:cNvGrpSpPr/>
          <p:nvPr/>
        </p:nvGrpSpPr>
        <p:grpSpPr>
          <a:xfrm>
            <a:off x="12285902" y="5198253"/>
            <a:ext cx="3141136" cy="1647840"/>
            <a:chOff x="0" y="0"/>
            <a:chExt cx="6350000" cy="3331210"/>
          </a:xfrm>
        </p:grpSpPr>
        <p:sp>
          <p:nvSpPr>
            <p:cNvPr id="29" name="Freeform 29"/>
            <p:cNvSpPr/>
            <p:nvPr/>
          </p:nvSpPr>
          <p:spPr>
            <a:xfrm>
              <a:off x="0" y="0"/>
              <a:ext cx="6350000" cy="3331210"/>
            </a:xfrm>
            <a:custGeom>
              <a:avLst/>
              <a:gdLst/>
              <a:ahLst/>
              <a:cxnLst/>
              <a:rect l="l" t="t" r="r" b="b"/>
              <a:pathLst>
                <a:path w="6350000" h="3331210">
                  <a:moveTo>
                    <a:pt x="6209030" y="0"/>
                  </a:moveTo>
                  <a:lnTo>
                    <a:pt x="140970" y="0"/>
                  </a:lnTo>
                  <a:cubicBezTo>
                    <a:pt x="63500" y="0"/>
                    <a:pt x="0" y="62230"/>
                    <a:pt x="0" y="138430"/>
                  </a:cubicBezTo>
                  <a:lnTo>
                    <a:pt x="0" y="3192780"/>
                  </a:lnTo>
                  <a:cubicBezTo>
                    <a:pt x="0" y="3268980"/>
                    <a:pt x="63500" y="3331210"/>
                    <a:pt x="140970" y="3331210"/>
                  </a:cubicBezTo>
                  <a:lnTo>
                    <a:pt x="6209030" y="3331210"/>
                  </a:lnTo>
                  <a:cubicBezTo>
                    <a:pt x="6286500" y="3331210"/>
                    <a:pt x="6350000" y="3268980"/>
                    <a:pt x="6350000" y="3192780"/>
                  </a:cubicBezTo>
                  <a:lnTo>
                    <a:pt x="6350000" y="138430"/>
                  </a:lnTo>
                  <a:cubicBezTo>
                    <a:pt x="6350000" y="62230"/>
                    <a:pt x="6286500" y="0"/>
                    <a:pt x="6209030" y="0"/>
                  </a:cubicBezTo>
                  <a:close/>
                </a:path>
              </a:pathLst>
            </a:custGeom>
            <a:blipFill>
              <a:blip r:embed="rId12">
                <a:alphaModFix amt="90000"/>
              </a:blip>
              <a:stretch>
                <a:fillRect t="-12024" b="-30941"/>
              </a:stretch>
            </a:blipFill>
            <a:ln cap="sq">
              <a:noFill/>
              <a:prstDash val="solid"/>
              <a:miter/>
            </a:ln>
          </p:spPr>
        </p:sp>
      </p:grpSp>
      <p:grpSp>
        <p:nvGrpSpPr>
          <p:cNvPr id="30" name="Group 30"/>
          <p:cNvGrpSpPr/>
          <p:nvPr/>
        </p:nvGrpSpPr>
        <p:grpSpPr>
          <a:xfrm>
            <a:off x="15550863" y="4262870"/>
            <a:ext cx="2002830" cy="2867362"/>
            <a:chOff x="0" y="0"/>
            <a:chExt cx="10591800" cy="15163800"/>
          </a:xfrm>
        </p:grpSpPr>
        <p:sp>
          <p:nvSpPr>
            <p:cNvPr id="31" name="Freeform 31"/>
            <p:cNvSpPr/>
            <p:nvPr/>
          </p:nvSpPr>
          <p:spPr>
            <a:xfrm>
              <a:off x="0" y="0"/>
              <a:ext cx="10591800" cy="15163800"/>
            </a:xfrm>
            <a:custGeom>
              <a:avLst/>
              <a:gdLst/>
              <a:ahLst/>
              <a:cxnLst/>
              <a:rect l="l" t="t" r="r" b="b"/>
              <a:pathLst>
                <a:path w="10591800" h="15163800">
                  <a:moveTo>
                    <a:pt x="10591800" y="254000"/>
                  </a:moveTo>
                  <a:lnTo>
                    <a:pt x="10591800" y="14909800"/>
                  </a:lnTo>
                  <a:cubicBezTo>
                    <a:pt x="10591800" y="15050136"/>
                    <a:pt x="10478135" y="15163800"/>
                    <a:pt x="10337800" y="15163800"/>
                  </a:cubicBezTo>
                  <a:lnTo>
                    <a:pt x="254000" y="15163800"/>
                  </a:lnTo>
                  <a:cubicBezTo>
                    <a:pt x="113665" y="15163800"/>
                    <a:pt x="0" y="15050136"/>
                    <a:pt x="0" y="14909800"/>
                  </a:cubicBezTo>
                  <a:lnTo>
                    <a:pt x="0" y="254000"/>
                  </a:lnTo>
                  <a:cubicBezTo>
                    <a:pt x="0" y="113665"/>
                    <a:pt x="113665" y="0"/>
                    <a:pt x="254000" y="0"/>
                  </a:cubicBezTo>
                  <a:lnTo>
                    <a:pt x="10337800" y="0"/>
                  </a:lnTo>
                  <a:cubicBezTo>
                    <a:pt x="10478135" y="0"/>
                    <a:pt x="10591800" y="113665"/>
                    <a:pt x="10591800" y="254000"/>
                  </a:cubicBezTo>
                  <a:close/>
                </a:path>
              </a:pathLst>
            </a:custGeom>
            <a:blipFill>
              <a:blip r:embed="rId13">
                <a:alphaModFix amt="90000"/>
              </a:blip>
              <a:stretch>
                <a:fillRect l="-26507" r="-11289"/>
              </a:stretch>
            </a:blipFill>
            <a:ln cap="sq">
              <a:noFill/>
              <a:prstDash val="solid"/>
              <a:miter/>
            </a:ln>
          </p:spPr>
        </p:sp>
      </p:grpSp>
      <p:grpSp>
        <p:nvGrpSpPr>
          <p:cNvPr id="32" name="Group 32"/>
          <p:cNvGrpSpPr/>
          <p:nvPr/>
        </p:nvGrpSpPr>
        <p:grpSpPr>
          <a:xfrm>
            <a:off x="15550863" y="1276113"/>
            <a:ext cx="2002830" cy="2867362"/>
            <a:chOff x="0" y="0"/>
            <a:chExt cx="10591800" cy="15163800"/>
          </a:xfrm>
        </p:grpSpPr>
        <p:sp>
          <p:nvSpPr>
            <p:cNvPr id="33" name="Freeform 33"/>
            <p:cNvSpPr/>
            <p:nvPr/>
          </p:nvSpPr>
          <p:spPr>
            <a:xfrm>
              <a:off x="0" y="0"/>
              <a:ext cx="10591800" cy="15163800"/>
            </a:xfrm>
            <a:custGeom>
              <a:avLst/>
              <a:gdLst/>
              <a:ahLst/>
              <a:cxnLst/>
              <a:rect l="l" t="t" r="r" b="b"/>
              <a:pathLst>
                <a:path w="10591800" h="15163800">
                  <a:moveTo>
                    <a:pt x="10591800" y="254000"/>
                  </a:moveTo>
                  <a:lnTo>
                    <a:pt x="10591800" y="14909800"/>
                  </a:lnTo>
                  <a:cubicBezTo>
                    <a:pt x="10591800" y="15050136"/>
                    <a:pt x="10478135" y="15163800"/>
                    <a:pt x="10337800" y="15163800"/>
                  </a:cubicBezTo>
                  <a:lnTo>
                    <a:pt x="254000" y="15163800"/>
                  </a:lnTo>
                  <a:cubicBezTo>
                    <a:pt x="113665" y="15163800"/>
                    <a:pt x="0" y="15050136"/>
                    <a:pt x="0" y="14909800"/>
                  </a:cubicBezTo>
                  <a:lnTo>
                    <a:pt x="0" y="254000"/>
                  </a:lnTo>
                  <a:cubicBezTo>
                    <a:pt x="0" y="113665"/>
                    <a:pt x="113665" y="0"/>
                    <a:pt x="254000" y="0"/>
                  </a:cubicBezTo>
                  <a:lnTo>
                    <a:pt x="10337800" y="0"/>
                  </a:lnTo>
                  <a:cubicBezTo>
                    <a:pt x="10478135" y="0"/>
                    <a:pt x="10591800" y="113665"/>
                    <a:pt x="10591800" y="254000"/>
                  </a:cubicBezTo>
                  <a:close/>
                </a:path>
              </a:pathLst>
            </a:custGeom>
            <a:blipFill>
              <a:blip r:embed="rId14">
                <a:alphaModFix amt="90000"/>
              </a:blip>
              <a:stretch>
                <a:fillRect l="-3687" r="-3687"/>
              </a:stretch>
            </a:blipFill>
            <a:ln cap="sq">
              <a:noFill/>
              <a:prstDash val="solid"/>
              <a:miter/>
            </a:ln>
          </p:spPr>
        </p:sp>
      </p:grpSp>
      <p:sp>
        <p:nvSpPr>
          <p:cNvPr id="34" name="TextBox 34"/>
          <p:cNvSpPr txBox="1"/>
          <p:nvPr/>
        </p:nvSpPr>
        <p:spPr>
          <a:xfrm>
            <a:off x="1028700" y="4854030"/>
            <a:ext cx="11133377" cy="830397"/>
          </a:xfrm>
          <a:prstGeom prst="rect">
            <a:avLst/>
          </a:prstGeom>
        </p:spPr>
        <p:txBody>
          <a:bodyPr wrap="square" lIns="0" tIns="0" rIns="0" bIns="0" rtlCol="0" anchor="t">
            <a:spAutoFit/>
          </a:bodyPr>
          <a:lstStyle/>
          <a:p>
            <a:pPr algn="l">
              <a:lnSpc>
                <a:spcPts val="6732"/>
              </a:lnSpc>
              <a:spcBef>
                <a:spcPct val="0"/>
              </a:spcBef>
            </a:pPr>
            <a:r>
              <a:rPr lang="en-US" sz="4808" dirty="0">
                <a:solidFill>
                  <a:srgbClr val="000000"/>
                </a:solidFill>
                <a:latin typeface="Bricolage Grotesque"/>
                <a:ea typeface="Bricolage Grotesque"/>
                <a:cs typeface="Bricolage Grotesque"/>
                <a:sym typeface="Bricolage Grotesque"/>
              </a:rPr>
              <a:t>CORDILLERA ADMINISTRATIVE REGION</a:t>
            </a:r>
          </a:p>
        </p:txBody>
      </p:sp>
      <p:sp>
        <p:nvSpPr>
          <p:cNvPr id="35" name="TextBox 35"/>
          <p:cNvSpPr txBox="1"/>
          <p:nvPr/>
        </p:nvSpPr>
        <p:spPr>
          <a:xfrm>
            <a:off x="1028700" y="2937414"/>
            <a:ext cx="8305660" cy="1910714"/>
          </a:xfrm>
          <a:prstGeom prst="rect">
            <a:avLst/>
          </a:prstGeom>
        </p:spPr>
        <p:txBody>
          <a:bodyPr lIns="0" tIns="0" rIns="0" bIns="0" rtlCol="0" anchor="t">
            <a:spAutoFit/>
          </a:bodyPr>
          <a:lstStyle/>
          <a:p>
            <a:pPr algn="l">
              <a:lnSpc>
                <a:spcPts val="7712"/>
              </a:lnSpc>
            </a:pPr>
            <a:r>
              <a:rPr lang="en-US" sz="5508">
                <a:solidFill>
                  <a:srgbClr val="000000"/>
                </a:solidFill>
                <a:latin typeface="Norwester"/>
                <a:ea typeface="Norwester"/>
                <a:cs typeface="Norwester"/>
                <a:sym typeface="Norwester"/>
              </a:rPr>
              <a:t>DEPARTMENT OF ECONOMY, </a:t>
            </a:r>
          </a:p>
          <a:p>
            <a:pPr algn="l">
              <a:lnSpc>
                <a:spcPts val="7712"/>
              </a:lnSpc>
              <a:spcBef>
                <a:spcPct val="0"/>
              </a:spcBef>
            </a:pPr>
            <a:r>
              <a:rPr lang="en-US" sz="5508">
                <a:solidFill>
                  <a:srgbClr val="000000"/>
                </a:solidFill>
                <a:latin typeface="Norwester"/>
                <a:ea typeface="Norwester"/>
                <a:cs typeface="Norwester"/>
                <a:sym typeface="Norwester"/>
              </a:rPr>
              <a:t>PLANNING, AND DEVELOPMENT</a:t>
            </a:r>
          </a:p>
        </p:txBody>
      </p:sp>
      <p:sp>
        <p:nvSpPr>
          <p:cNvPr id="36" name="TextBox 36"/>
          <p:cNvSpPr txBox="1"/>
          <p:nvPr/>
        </p:nvSpPr>
        <p:spPr>
          <a:xfrm>
            <a:off x="1028700" y="5804631"/>
            <a:ext cx="7053222" cy="662822"/>
          </a:xfrm>
          <a:prstGeom prst="rect">
            <a:avLst/>
          </a:prstGeom>
        </p:spPr>
        <p:txBody>
          <a:bodyPr lIns="0" tIns="0" rIns="0" bIns="0" rtlCol="0" anchor="t">
            <a:spAutoFit/>
          </a:bodyPr>
          <a:lstStyle/>
          <a:p>
            <a:pPr algn="l">
              <a:lnSpc>
                <a:spcPts val="5334"/>
              </a:lnSpc>
              <a:spcBef>
                <a:spcPct val="0"/>
              </a:spcBef>
            </a:pPr>
            <a:r>
              <a:rPr lang="en-US" sz="3810">
                <a:solidFill>
                  <a:srgbClr val="000000"/>
                </a:solidFill>
                <a:latin typeface="Archivo Narrow"/>
                <a:ea typeface="Archivo Narrow"/>
                <a:cs typeface="Archivo Narrow"/>
                <a:sym typeface="Archivo Narrow"/>
              </a:rPr>
              <a:t>(DEPDev - CAR Formerly NEDA - CAR)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2973616"/>
            <a:ext cx="5396448" cy="5432665"/>
          </a:xfrm>
          <a:custGeom>
            <a:avLst/>
            <a:gdLst/>
            <a:ahLst/>
            <a:cxnLst/>
            <a:rect l="l" t="t" r="r" b="b"/>
            <a:pathLst>
              <a:path w="5396448" h="5432665">
                <a:moveTo>
                  <a:pt x="0" y="0"/>
                </a:moveTo>
                <a:lnTo>
                  <a:pt x="5396448" y="0"/>
                </a:lnTo>
                <a:lnTo>
                  <a:pt x="5396448" y="5432665"/>
                </a:lnTo>
                <a:lnTo>
                  <a:pt x="0" y="5432665"/>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grpSp>
        <p:nvGrpSpPr>
          <p:cNvPr id="15" name="Group 15"/>
          <p:cNvGrpSpPr/>
          <p:nvPr/>
        </p:nvGrpSpPr>
        <p:grpSpPr>
          <a:xfrm>
            <a:off x="716968" y="2344966"/>
            <a:ext cx="5597069" cy="5597069"/>
            <a:chOff x="0" y="0"/>
            <a:chExt cx="6350000" cy="6350000"/>
          </a:xfrm>
        </p:grpSpPr>
        <p:sp>
          <p:nvSpPr>
            <p:cNvPr id="16" name="Freeform 16"/>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5"/>
              <a:stretch>
                <a:fillRect l="-16568" r="-16568"/>
              </a:stretch>
            </a:blipFill>
            <a:ln w="38100" cap="sq">
              <a:solidFill>
                <a:srgbClr val="7B392F"/>
              </a:solidFill>
              <a:prstDash val="solid"/>
              <a:miter/>
            </a:ln>
          </p:spPr>
        </p:sp>
      </p:grpSp>
      <p:sp>
        <p:nvSpPr>
          <p:cNvPr id="17" name="TextBox 17"/>
          <p:cNvSpPr txBox="1"/>
          <p:nvPr/>
        </p:nvSpPr>
        <p:spPr>
          <a:xfrm>
            <a:off x="6430936" y="1512140"/>
            <a:ext cx="6450025"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DEPDev - CAR (NEDA - CAR)</a:t>
            </a:r>
          </a:p>
        </p:txBody>
      </p:sp>
      <p:sp>
        <p:nvSpPr>
          <p:cNvPr id="18" name="TextBox 18"/>
          <p:cNvSpPr txBox="1"/>
          <p:nvPr/>
        </p:nvSpPr>
        <p:spPr>
          <a:xfrm>
            <a:off x="6430936" y="2500184"/>
            <a:ext cx="11857064" cy="6720016"/>
          </a:xfrm>
          <a:prstGeom prst="rect">
            <a:avLst/>
          </a:prstGeom>
        </p:spPr>
        <p:txBody>
          <a:bodyPr lIns="0" tIns="0" rIns="0" bIns="0" rtlCol="0" anchor="t">
            <a:spAutoFit/>
          </a:bodyPr>
          <a:lstStyle/>
          <a:p>
            <a:pPr algn="l">
              <a:lnSpc>
                <a:spcPts val="4480"/>
              </a:lnSpc>
              <a:spcBef>
                <a:spcPct val="0"/>
              </a:spcBef>
            </a:pPr>
            <a:r>
              <a:rPr lang="en-US" sz="3200">
                <a:solidFill>
                  <a:srgbClr val="000000"/>
                </a:solidFill>
                <a:latin typeface="Glacial Indifference"/>
                <a:ea typeface="Glacial Indifference"/>
                <a:cs typeface="Glacial Indifference"/>
                <a:sym typeface="Glacial Indifference"/>
              </a:rPr>
              <a:t>The Department of Economy, Planning, and Development – Cordillera Administrative Region (DEPDev-CAR), formerly known as the National Economic and Development Authority – CAR (NEDA-CAR), serves as the primary socioeconomic planning body in the region. Its mandate encompasses the coordination and implementation of development initiatives, policy formulation, and strategic planning to promote inclusive and sustainable growth within the Cordillera Administrative Region (CAR). </a:t>
            </a:r>
          </a:p>
          <a:p>
            <a:pPr algn="l">
              <a:lnSpc>
                <a:spcPts val="4480"/>
              </a:lnSpc>
              <a:spcBef>
                <a:spcPct val="0"/>
              </a:spcBef>
            </a:pPr>
            <a:r>
              <a:rPr lang="en-US" sz="3200">
                <a:solidFill>
                  <a:srgbClr val="000000"/>
                </a:solidFill>
                <a:latin typeface="Glacial Indifference"/>
                <a:ea typeface="Glacial Indifference"/>
                <a:cs typeface="Glacial Indifference"/>
                <a:sym typeface="Glacial Indifference"/>
              </a:rPr>
              <a:t>In April 2025, through Republic Act No. 12145, NEDA was reorganized into DEPDev, granting it full executive department status to enhance its policy-making and coordination functions across the country.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123275" y="2394026"/>
            <a:ext cx="6193959" cy="6235529"/>
          </a:xfrm>
          <a:custGeom>
            <a:avLst/>
            <a:gdLst/>
            <a:ahLst/>
            <a:cxnLst/>
            <a:rect l="l" t="t" r="r" b="b"/>
            <a:pathLst>
              <a:path w="6193959" h="6235529">
                <a:moveTo>
                  <a:pt x="0" y="0"/>
                </a:moveTo>
                <a:lnTo>
                  <a:pt x="6193959" y="0"/>
                </a:lnTo>
                <a:lnTo>
                  <a:pt x="6193959" y="6235529"/>
                </a:lnTo>
                <a:lnTo>
                  <a:pt x="0" y="6235529"/>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grpSp>
        <p:nvGrpSpPr>
          <p:cNvPr id="15" name="Group 15"/>
          <p:cNvGrpSpPr/>
          <p:nvPr/>
        </p:nvGrpSpPr>
        <p:grpSpPr>
          <a:xfrm>
            <a:off x="1340453" y="2127058"/>
            <a:ext cx="2606389" cy="2606389"/>
            <a:chOff x="0" y="0"/>
            <a:chExt cx="6350000" cy="6350000"/>
          </a:xfrm>
        </p:grpSpPr>
        <p:sp>
          <p:nvSpPr>
            <p:cNvPr id="16" name="Freeform 16"/>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5"/>
              <a:stretch>
                <a:fillRect/>
              </a:stretch>
            </a:blipFill>
          </p:spPr>
        </p:sp>
      </p:grpSp>
      <p:sp>
        <p:nvSpPr>
          <p:cNvPr id="17" name="TextBox 17"/>
          <p:cNvSpPr txBox="1"/>
          <p:nvPr/>
        </p:nvSpPr>
        <p:spPr>
          <a:xfrm>
            <a:off x="1279820" y="4422498"/>
            <a:ext cx="5334045" cy="615729"/>
          </a:xfrm>
          <a:prstGeom prst="rect">
            <a:avLst/>
          </a:prstGeom>
        </p:spPr>
        <p:txBody>
          <a:bodyPr lIns="0" tIns="0" rIns="0" bIns="0" rtlCol="0" anchor="t">
            <a:spAutoFit/>
          </a:bodyPr>
          <a:lstStyle/>
          <a:p>
            <a:pPr algn="ctr">
              <a:lnSpc>
                <a:spcPts val="4912"/>
              </a:lnSpc>
              <a:spcBef>
                <a:spcPct val="0"/>
              </a:spcBef>
            </a:pPr>
            <a:r>
              <a:rPr lang="en-US" sz="3508">
                <a:solidFill>
                  <a:srgbClr val="000000"/>
                </a:solidFill>
                <a:latin typeface="Archivo Narrow"/>
                <a:ea typeface="Archivo Narrow"/>
                <a:cs typeface="Archivo Narrow"/>
                <a:sym typeface="Archivo Narrow"/>
              </a:rPr>
              <a:t>ERICA &amp; MACY</a:t>
            </a:r>
          </a:p>
        </p:txBody>
      </p:sp>
      <p:grpSp>
        <p:nvGrpSpPr>
          <p:cNvPr id="18" name="Group 18"/>
          <p:cNvGrpSpPr/>
          <p:nvPr/>
        </p:nvGrpSpPr>
        <p:grpSpPr>
          <a:xfrm>
            <a:off x="3886210" y="2127058"/>
            <a:ext cx="2606389" cy="2606389"/>
            <a:chOff x="0" y="0"/>
            <a:chExt cx="6350000" cy="6350000"/>
          </a:xfrm>
        </p:grpSpPr>
        <p:sp>
          <p:nvSpPr>
            <p:cNvPr id="19" name="Freeform 19"/>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a:stretch>
            </a:blipFill>
          </p:spPr>
        </p:sp>
      </p:grpSp>
      <p:sp>
        <p:nvSpPr>
          <p:cNvPr id="20" name="TextBox 20"/>
          <p:cNvSpPr txBox="1"/>
          <p:nvPr/>
        </p:nvSpPr>
        <p:spPr>
          <a:xfrm>
            <a:off x="6553232" y="8179055"/>
            <a:ext cx="5334045" cy="615729"/>
          </a:xfrm>
          <a:prstGeom prst="rect">
            <a:avLst/>
          </a:prstGeom>
        </p:spPr>
        <p:txBody>
          <a:bodyPr lIns="0" tIns="0" rIns="0" bIns="0" rtlCol="0" anchor="t">
            <a:spAutoFit/>
          </a:bodyPr>
          <a:lstStyle/>
          <a:p>
            <a:pPr algn="ctr">
              <a:lnSpc>
                <a:spcPts val="4912"/>
              </a:lnSpc>
              <a:spcBef>
                <a:spcPct val="0"/>
              </a:spcBef>
            </a:pPr>
            <a:r>
              <a:rPr lang="en-US" sz="3508">
                <a:solidFill>
                  <a:srgbClr val="000000"/>
                </a:solidFill>
                <a:latin typeface="Archivo Narrow"/>
                <a:ea typeface="Archivo Narrow"/>
                <a:cs typeface="Archivo Narrow"/>
                <a:sym typeface="Archivo Narrow"/>
              </a:rPr>
              <a:t>DANZEL</a:t>
            </a:r>
          </a:p>
        </p:txBody>
      </p:sp>
      <p:grpSp>
        <p:nvGrpSpPr>
          <p:cNvPr id="21" name="Group 21"/>
          <p:cNvGrpSpPr/>
          <p:nvPr/>
        </p:nvGrpSpPr>
        <p:grpSpPr>
          <a:xfrm>
            <a:off x="7917060" y="5883616"/>
            <a:ext cx="2606389" cy="2606389"/>
            <a:chOff x="0" y="0"/>
            <a:chExt cx="6350000" cy="6350000"/>
          </a:xfrm>
        </p:grpSpPr>
        <p:sp>
          <p:nvSpPr>
            <p:cNvPr id="22" name="Freeform 22"/>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a:stretch>
            </a:blipFill>
          </p:spPr>
        </p:sp>
      </p:grpSp>
      <p:grpSp>
        <p:nvGrpSpPr>
          <p:cNvPr id="23" name="Group 23"/>
          <p:cNvGrpSpPr/>
          <p:nvPr/>
        </p:nvGrpSpPr>
        <p:grpSpPr>
          <a:xfrm>
            <a:off x="6674498" y="2127058"/>
            <a:ext cx="2606389" cy="2606389"/>
            <a:chOff x="0" y="0"/>
            <a:chExt cx="6350000" cy="6350000"/>
          </a:xfrm>
        </p:grpSpPr>
        <p:sp>
          <p:nvSpPr>
            <p:cNvPr id="24" name="Freeform 24"/>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8"/>
              <a:stretch>
                <a:fillRect b="-7922"/>
              </a:stretch>
            </a:blipFill>
          </p:spPr>
        </p:sp>
      </p:grpSp>
      <p:sp>
        <p:nvSpPr>
          <p:cNvPr id="25" name="TextBox 25"/>
          <p:cNvSpPr txBox="1"/>
          <p:nvPr/>
        </p:nvSpPr>
        <p:spPr>
          <a:xfrm>
            <a:off x="6613865" y="4422498"/>
            <a:ext cx="5334045" cy="615729"/>
          </a:xfrm>
          <a:prstGeom prst="rect">
            <a:avLst/>
          </a:prstGeom>
        </p:spPr>
        <p:txBody>
          <a:bodyPr lIns="0" tIns="0" rIns="0" bIns="0" rtlCol="0" anchor="t">
            <a:spAutoFit/>
          </a:bodyPr>
          <a:lstStyle/>
          <a:p>
            <a:pPr algn="ctr">
              <a:lnSpc>
                <a:spcPts val="4912"/>
              </a:lnSpc>
              <a:spcBef>
                <a:spcPct val="0"/>
              </a:spcBef>
            </a:pPr>
            <a:r>
              <a:rPr lang="en-US" sz="3508">
                <a:solidFill>
                  <a:srgbClr val="000000"/>
                </a:solidFill>
                <a:latin typeface="Archivo Narrow"/>
                <a:ea typeface="Archivo Narrow"/>
                <a:cs typeface="Archivo Narrow"/>
                <a:sym typeface="Archivo Narrow"/>
              </a:rPr>
              <a:t>TRISHA &amp; REYMAR</a:t>
            </a:r>
          </a:p>
        </p:txBody>
      </p:sp>
      <p:grpSp>
        <p:nvGrpSpPr>
          <p:cNvPr id="26" name="Group 26"/>
          <p:cNvGrpSpPr/>
          <p:nvPr/>
        </p:nvGrpSpPr>
        <p:grpSpPr>
          <a:xfrm>
            <a:off x="9220254" y="2127058"/>
            <a:ext cx="2606389" cy="2606389"/>
            <a:chOff x="0" y="0"/>
            <a:chExt cx="6350000" cy="6350000"/>
          </a:xfrm>
        </p:grpSpPr>
        <p:sp>
          <p:nvSpPr>
            <p:cNvPr id="27" name="Freeform 27"/>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9"/>
              <a:stretch>
                <a:fillRect/>
              </a:stretch>
            </a:blipFill>
          </p:spPr>
        </p:sp>
      </p:grpSp>
      <p:grpSp>
        <p:nvGrpSpPr>
          <p:cNvPr id="28" name="Group 28"/>
          <p:cNvGrpSpPr/>
          <p:nvPr/>
        </p:nvGrpSpPr>
        <p:grpSpPr>
          <a:xfrm>
            <a:off x="12008542" y="2127058"/>
            <a:ext cx="2606389" cy="2606389"/>
            <a:chOff x="0" y="0"/>
            <a:chExt cx="6350000" cy="6350000"/>
          </a:xfrm>
        </p:grpSpPr>
        <p:sp>
          <p:nvSpPr>
            <p:cNvPr id="29" name="Freeform 29"/>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0"/>
              <a:stretch>
                <a:fillRect t="-7059" b="-21511"/>
              </a:stretch>
            </a:blipFill>
          </p:spPr>
        </p:sp>
      </p:grpSp>
      <p:sp>
        <p:nvSpPr>
          <p:cNvPr id="30" name="TextBox 30"/>
          <p:cNvSpPr txBox="1"/>
          <p:nvPr/>
        </p:nvSpPr>
        <p:spPr>
          <a:xfrm>
            <a:off x="11947910" y="4422498"/>
            <a:ext cx="5334045" cy="615729"/>
          </a:xfrm>
          <a:prstGeom prst="rect">
            <a:avLst/>
          </a:prstGeom>
        </p:spPr>
        <p:txBody>
          <a:bodyPr lIns="0" tIns="0" rIns="0" bIns="0" rtlCol="0" anchor="t">
            <a:spAutoFit/>
          </a:bodyPr>
          <a:lstStyle/>
          <a:p>
            <a:pPr algn="ctr">
              <a:lnSpc>
                <a:spcPts val="4912"/>
              </a:lnSpc>
              <a:spcBef>
                <a:spcPct val="0"/>
              </a:spcBef>
            </a:pPr>
            <a:r>
              <a:rPr lang="en-US" sz="3508">
                <a:solidFill>
                  <a:srgbClr val="000000"/>
                </a:solidFill>
                <a:latin typeface="Archivo Narrow"/>
                <a:ea typeface="Archivo Narrow"/>
                <a:cs typeface="Archivo Narrow"/>
                <a:sym typeface="Archivo Narrow"/>
              </a:rPr>
              <a:t>JOSHUA &amp; MARIA FHE</a:t>
            </a:r>
          </a:p>
        </p:txBody>
      </p:sp>
      <p:grpSp>
        <p:nvGrpSpPr>
          <p:cNvPr id="31" name="Group 31"/>
          <p:cNvGrpSpPr/>
          <p:nvPr/>
        </p:nvGrpSpPr>
        <p:grpSpPr>
          <a:xfrm>
            <a:off x="14554299" y="2127058"/>
            <a:ext cx="2606389" cy="2606389"/>
            <a:chOff x="0" y="0"/>
            <a:chExt cx="6350000" cy="6350000"/>
          </a:xfrm>
        </p:grpSpPr>
        <p:sp>
          <p:nvSpPr>
            <p:cNvPr id="32" name="Freeform 32"/>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1"/>
              <a:stretch>
                <a:fillRect/>
              </a:stretch>
            </a:blipFill>
          </p:spPr>
        </p:sp>
      </p:grpSp>
      <p:sp>
        <p:nvSpPr>
          <p:cNvPr id="33" name="TextBox 33"/>
          <p:cNvSpPr txBox="1"/>
          <p:nvPr/>
        </p:nvSpPr>
        <p:spPr>
          <a:xfrm>
            <a:off x="11947910" y="8179055"/>
            <a:ext cx="5334045" cy="615729"/>
          </a:xfrm>
          <a:prstGeom prst="rect">
            <a:avLst/>
          </a:prstGeom>
        </p:spPr>
        <p:txBody>
          <a:bodyPr lIns="0" tIns="0" rIns="0" bIns="0" rtlCol="0" anchor="t">
            <a:spAutoFit/>
          </a:bodyPr>
          <a:lstStyle/>
          <a:p>
            <a:pPr algn="ctr">
              <a:lnSpc>
                <a:spcPts val="4912"/>
              </a:lnSpc>
              <a:spcBef>
                <a:spcPct val="0"/>
              </a:spcBef>
            </a:pPr>
            <a:r>
              <a:rPr lang="en-US" sz="3508">
                <a:solidFill>
                  <a:srgbClr val="000000"/>
                </a:solidFill>
                <a:latin typeface="Archivo Narrow"/>
                <a:ea typeface="Archivo Narrow"/>
                <a:cs typeface="Archivo Narrow"/>
                <a:sym typeface="Archivo Narrow"/>
              </a:rPr>
              <a:t>AARON</a:t>
            </a:r>
          </a:p>
        </p:txBody>
      </p:sp>
      <p:grpSp>
        <p:nvGrpSpPr>
          <p:cNvPr id="34" name="Group 34"/>
          <p:cNvGrpSpPr/>
          <p:nvPr/>
        </p:nvGrpSpPr>
        <p:grpSpPr>
          <a:xfrm>
            <a:off x="13311737" y="5883616"/>
            <a:ext cx="2606389" cy="2606389"/>
            <a:chOff x="0" y="0"/>
            <a:chExt cx="6350000" cy="6350000"/>
          </a:xfrm>
        </p:grpSpPr>
        <p:sp>
          <p:nvSpPr>
            <p:cNvPr id="35" name="Freeform 35"/>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2"/>
              <a:stretch>
                <a:fillRect/>
              </a:stretch>
            </a:blipFill>
          </p:spPr>
        </p:sp>
      </p:grpSp>
      <p:sp>
        <p:nvSpPr>
          <p:cNvPr id="36" name="TextBox 36"/>
          <p:cNvSpPr txBox="1"/>
          <p:nvPr/>
        </p:nvSpPr>
        <p:spPr>
          <a:xfrm>
            <a:off x="1279820" y="8179055"/>
            <a:ext cx="5334045" cy="615729"/>
          </a:xfrm>
          <a:prstGeom prst="rect">
            <a:avLst/>
          </a:prstGeom>
        </p:spPr>
        <p:txBody>
          <a:bodyPr lIns="0" tIns="0" rIns="0" bIns="0" rtlCol="0" anchor="t">
            <a:spAutoFit/>
          </a:bodyPr>
          <a:lstStyle/>
          <a:p>
            <a:pPr algn="ctr">
              <a:lnSpc>
                <a:spcPts val="4912"/>
              </a:lnSpc>
              <a:spcBef>
                <a:spcPct val="0"/>
              </a:spcBef>
            </a:pPr>
            <a:r>
              <a:rPr lang="en-US" sz="3508">
                <a:solidFill>
                  <a:srgbClr val="000000"/>
                </a:solidFill>
                <a:latin typeface="Archivo Narrow"/>
                <a:ea typeface="Archivo Narrow"/>
                <a:cs typeface="Archivo Narrow"/>
                <a:sym typeface="Archivo Narrow"/>
              </a:rPr>
              <a:t>IAN</a:t>
            </a:r>
          </a:p>
        </p:txBody>
      </p:sp>
      <p:grpSp>
        <p:nvGrpSpPr>
          <p:cNvPr id="37" name="Group 37"/>
          <p:cNvGrpSpPr/>
          <p:nvPr/>
        </p:nvGrpSpPr>
        <p:grpSpPr>
          <a:xfrm>
            <a:off x="2643648" y="5883616"/>
            <a:ext cx="2606389" cy="2606389"/>
            <a:chOff x="0" y="0"/>
            <a:chExt cx="6350000" cy="6350000"/>
          </a:xfrm>
        </p:grpSpPr>
        <p:sp>
          <p:nvSpPr>
            <p:cNvPr id="38" name="Freeform 38"/>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3"/>
              <a:stretch>
                <a:fillRect/>
              </a:stretch>
            </a:blipFill>
          </p:spPr>
        </p:sp>
      </p:grpSp>
      <p:sp>
        <p:nvSpPr>
          <p:cNvPr id="39" name="TextBox 39"/>
          <p:cNvSpPr txBox="1"/>
          <p:nvPr/>
        </p:nvSpPr>
        <p:spPr>
          <a:xfrm>
            <a:off x="4791036" y="1090029"/>
            <a:ext cx="8858436"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DEPDev - CAR (NEDA - CAR) DIVISIONS</a:t>
            </a:r>
          </a:p>
        </p:txBody>
      </p:sp>
      <p:sp>
        <p:nvSpPr>
          <p:cNvPr id="40" name="TextBox 40"/>
          <p:cNvSpPr txBox="1"/>
          <p:nvPr/>
        </p:nvSpPr>
        <p:spPr>
          <a:xfrm>
            <a:off x="1279820" y="4971552"/>
            <a:ext cx="5334045" cy="540238"/>
          </a:xfrm>
          <a:prstGeom prst="rect">
            <a:avLst/>
          </a:prstGeom>
        </p:spPr>
        <p:txBody>
          <a:bodyPr lIns="0" tIns="0" rIns="0" bIns="0" rtlCol="0" anchor="t">
            <a:spAutoFit/>
          </a:bodyPr>
          <a:lstStyle/>
          <a:p>
            <a:pPr algn="ctr">
              <a:lnSpc>
                <a:spcPts val="4352"/>
              </a:lnSpc>
              <a:spcBef>
                <a:spcPct val="0"/>
              </a:spcBef>
            </a:pPr>
            <a:r>
              <a:rPr lang="en-US" sz="3108" b="1">
                <a:solidFill>
                  <a:srgbClr val="000000"/>
                </a:solidFill>
                <a:latin typeface="Archivo Narrow Bold"/>
                <a:ea typeface="Archivo Narrow Bold"/>
                <a:cs typeface="Archivo Narrow Bold"/>
                <a:sym typeface="Archivo Narrow Bold"/>
              </a:rPr>
              <a:t>SUPPLY UNIT</a:t>
            </a:r>
          </a:p>
        </p:txBody>
      </p:sp>
      <p:sp>
        <p:nvSpPr>
          <p:cNvPr id="41" name="TextBox 41"/>
          <p:cNvSpPr txBox="1"/>
          <p:nvPr/>
        </p:nvSpPr>
        <p:spPr>
          <a:xfrm>
            <a:off x="6508518" y="5005075"/>
            <a:ext cx="5334045" cy="540238"/>
          </a:xfrm>
          <a:prstGeom prst="rect">
            <a:avLst/>
          </a:prstGeom>
        </p:spPr>
        <p:txBody>
          <a:bodyPr lIns="0" tIns="0" rIns="0" bIns="0" rtlCol="0" anchor="t">
            <a:spAutoFit/>
          </a:bodyPr>
          <a:lstStyle/>
          <a:p>
            <a:pPr algn="ctr">
              <a:lnSpc>
                <a:spcPts val="4352"/>
              </a:lnSpc>
              <a:spcBef>
                <a:spcPct val="0"/>
              </a:spcBef>
            </a:pPr>
            <a:r>
              <a:rPr lang="en-US" sz="3108" b="1">
                <a:solidFill>
                  <a:srgbClr val="000000"/>
                </a:solidFill>
                <a:latin typeface="Archivo Narrow Bold"/>
                <a:ea typeface="Archivo Narrow Bold"/>
                <a:cs typeface="Archivo Narrow Bold"/>
                <a:sym typeface="Archivo Narrow Bold"/>
              </a:rPr>
              <a:t>ORD</a:t>
            </a:r>
          </a:p>
        </p:txBody>
      </p:sp>
      <p:sp>
        <p:nvSpPr>
          <p:cNvPr id="42" name="TextBox 42"/>
          <p:cNvSpPr txBox="1"/>
          <p:nvPr/>
        </p:nvSpPr>
        <p:spPr>
          <a:xfrm>
            <a:off x="11947910" y="5076825"/>
            <a:ext cx="5334045" cy="540238"/>
          </a:xfrm>
          <a:prstGeom prst="rect">
            <a:avLst/>
          </a:prstGeom>
        </p:spPr>
        <p:txBody>
          <a:bodyPr lIns="0" tIns="0" rIns="0" bIns="0" rtlCol="0" anchor="t">
            <a:spAutoFit/>
          </a:bodyPr>
          <a:lstStyle/>
          <a:p>
            <a:pPr algn="ctr">
              <a:lnSpc>
                <a:spcPts val="4352"/>
              </a:lnSpc>
              <a:spcBef>
                <a:spcPct val="0"/>
              </a:spcBef>
            </a:pPr>
            <a:r>
              <a:rPr lang="en-US" sz="3108" b="1">
                <a:solidFill>
                  <a:srgbClr val="000000"/>
                </a:solidFill>
                <a:latin typeface="Archivo Narrow Bold"/>
                <a:ea typeface="Archivo Narrow Bold"/>
                <a:cs typeface="Archivo Narrow Bold"/>
                <a:sym typeface="Archivo Narrow Bold"/>
              </a:rPr>
              <a:t>PLANNING</a:t>
            </a:r>
          </a:p>
        </p:txBody>
      </p:sp>
      <p:sp>
        <p:nvSpPr>
          <p:cNvPr id="43" name="TextBox 43"/>
          <p:cNvSpPr txBox="1"/>
          <p:nvPr/>
        </p:nvSpPr>
        <p:spPr>
          <a:xfrm>
            <a:off x="1238237" y="8718062"/>
            <a:ext cx="5334045" cy="540238"/>
          </a:xfrm>
          <a:prstGeom prst="rect">
            <a:avLst/>
          </a:prstGeom>
        </p:spPr>
        <p:txBody>
          <a:bodyPr lIns="0" tIns="0" rIns="0" bIns="0" rtlCol="0" anchor="t">
            <a:spAutoFit/>
          </a:bodyPr>
          <a:lstStyle/>
          <a:p>
            <a:pPr algn="ctr">
              <a:lnSpc>
                <a:spcPts val="4352"/>
              </a:lnSpc>
              <a:spcBef>
                <a:spcPct val="0"/>
              </a:spcBef>
            </a:pPr>
            <a:r>
              <a:rPr lang="en-US" sz="3108" b="1">
                <a:solidFill>
                  <a:srgbClr val="000000"/>
                </a:solidFill>
                <a:latin typeface="Archivo Narrow Bold"/>
                <a:ea typeface="Archivo Narrow Bold"/>
                <a:cs typeface="Archivo Narrow Bold"/>
                <a:sym typeface="Archivo Narrow Bold"/>
              </a:rPr>
              <a:t>SPCAR</a:t>
            </a:r>
          </a:p>
        </p:txBody>
      </p:sp>
      <p:sp>
        <p:nvSpPr>
          <p:cNvPr id="44" name="TextBox 44"/>
          <p:cNvSpPr txBox="1"/>
          <p:nvPr/>
        </p:nvSpPr>
        <p:spPr>
          <a:xfrm>
            <a:off x="6553232" y="8789761"/>
            <a:ext cx="5334045" cy="540238"/>
          </a:xfrm>
          <a:prstGeom prst="rect">
            <a:avLst/>
          </a:prstGeom>
        </p:spPr>
        <p:txBody>
          <a:bodyPr lIns="0" tIns="0" rIns="0" bIns="0" rtlCol="0" anchor="t">
            <a:spAutoFit/>
          </a:bodyPr>
          <a:lstStyle/>
          <a:p>
            <a:pPr algn="ctr">
              <a:lnSpc>
                <a:spcPts val="4352"/>
              </a:lnSpc>
              <a:spcBef>
                <a:spcPct val="0"/>
              </a:spcBef>
            </a:pPr>
            <a:r>
              <a:rPr lang="en-US" sz="3108" b="1">
                <a:solidFill>
                  <a:srgbClr val="000000"/>
                </a:solidFill>
                <a:latin typeface="Archivo Narrow Bold"/>
                <a:ea typeface="Archivo Narrow Bold"/>
                <a:cs typeface="Archivo Narrow Bold"/>
                <a:sym typeface="Archivo Narrow Bold"/>
              </a:rPr>
              <a:t>HR</a:t>
            </a:r>
          </a:p>
        </p:txBody>
      </p:sp>
      <p:sp>
        <p:nvSpPr>
          <p:cNvPr id="45" name="TextBox 45"/>
          <p:cNvSpPr txBox="1"/>
          <p:nvPr/>
        </p:nvSpPr>
        <p:spPr>
          <a:xfrm>
            <a:off x="11947910" y="8789761"/>
            <a:ext cx="5334045" cy="540238"/>
          </a:xfrm>
          <a:prstGeom prst="rect">
            <a:avLst/>
          </a:prstGeom>
        </p:spPr>
        <p:txBody>
          <a:bodyPr lIns="0" tIns="0" rIns="0" bIns="0" rtlCol="0" anchor="t">
            <a:spAutoFit/>
          </a:bodyPr>
          <a:lstStyle/>
          <a:p>
            <a:pPr algn="ctr">
              <a:lnSpc>
                <a:spcPts val="4352"/>
              </a:lnSpc>
              <a:spcBef>
                <a:spcPct val="0"/>
              </a:spcBef>
            </a:pPr>
            <a:r>
              <a:rPr lang="en-US" sz="3108" b="1">
                <a:solidFill>
                  <a:srgbClr val="000000"/>
                </a:solidFill>
                <a:latin typeface="Archivo Narrow Bold"/>
                <a:ea typeface="Archivo Narrow Bold"/>
                <a:cs typeface="Archivo Narrow Bold"/>
                <a:sym typeface="Archivo Narrow Bold"/>
              </a:rPr>
              <a:t>PHYSICAL UNIT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2973616"/>
            <a:ext cx="5396448" cy="5432665"/>
          </a:xfrm>
          <a:custGeom>
            <a:avLst/>
            <a:gdLst/>
            <a:ahLst/>
            <a:cxnLst/>
            <a:rect l="l" t="t" r="r" b="b"/>
            <a:pathLst>
              <a:path w="5396448" h="5432665">
                <a:moveTo>
                  <a:pt x="0" y="0"/>
                </a:moveTo>
                <a:lnTo>
                  <a:pt x="5396448" y="0"/>
                </a:lnTo>
                <a:lnTo>
                  <a:pt x="5396448" y="5432665"/>
                </a:lnTo>
                <a:lnTo>
                  <a:pt x="0" y="5432665"/>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grpSp>
        <p:nvGrpSpPr>
          <p:cNvPr id="15" name="Group 15"/>
          <p:cNvGrpSpPr/>
          <p:nvPr/>
        </p:nvGrpSpPr>
        <p:grpSpPr>
          <a:xfrm>
            <a:off x="1034104" y="2367804"/>
            <a:ext cx="3413262" cy="3413262"/>
            <a:chOff x="0" y="0"/>
            <a:chExt cx="6350000" cy="6350000"/>
          </a:xfrm>
        </p:grpSpPr>
        <p:sp>
          <p:nvSpPr>
            <p:cNvPr id="16" name="Freeform 16"/>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5"/>
              <a:stretch>
                <a:fillRect l="-16666" r="-16666"/>
              </a:stretch>
            </a:blipFill>
          </p:spPr>
        </p:sp>
      </p:grpSp>
      <p:grpSp>
        <p:nvGrpSpPr>
          <p:cNvPr id="17" name="Group 17"/>
          <p:cNvGrpSpPr/>
          <p:nvPr/>
        </p:nvGrpSpPr>
        <p:grpSpPr>
          <a:xfrm>
            <a:off x="2882721" y="4279863"/>
            <a:ext cx="3413262" cy="3413262"/>
            <a:chOff x="0" y="0"/>
            <a:chExt cx="6350000" cy="6350000"/>
          </a:xfrm>
        </p:grpSpPr>
        <p:sp>
          <p:nvSpPr>
            <p:cNvPr id="18" name="Freeform 18"/>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l="-16666" r="-16666"/>
              </a:stretch>
            </a:blipFill>
          </p:spPr>
        </p:sp>
      </p:grpSp>
      <p:grpSp>
        <p:nvGrpSpPr>
          <p:cNvPr id="19" name="Group 19"/>
          <p:cNvGrpSpPr/>
          <p:nvPr/>
        </p:nvGrpSpPr>
        <p:grpSpPr>
          <a:xfrm>
            <a:off x="897714" y="5781066"/>
            <a:ext cx="3413262" cy="3413262"/>
            <a:chOff x="0" y="0"/>
            <a:chExt cx="6350000" cy="6350000"/>
          </a:xfrm>
        </p:grpSpPr>
        <p:sp>
          <p:nvSpPr>
            <p:cNvPr id="20" name="Freeform 20"/>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t="-16666" b="-16666"/>
              </a:stretch>
            </a:blipFill>
          </p:spPr>
        </p:sp>
      </p:grpSp>
      <p:sp>
        <p:nvSpPr>
          <p:cNvPr id="21" name="TextBox 21"/>
          <p:cNvSpPr txBox="1"/>
          <p:nvPr/>
        </p:nvSpPr>
        <p:spPr>
          <a:xfrm>
            <a:off x="1028700" y="1375757"/>
            <a:ext cx="11235221"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LEARNING EXPERIENCES - SUPPLY UNIT DIVISION</a:t>
            </a:r>
          </a:p>
        </p:txBody>
      </p:sp>
      <p:sp>
        <p:nvSpPr>
          <p:cNvPr id="22" name="TextBox 22"/>
          <p:cNvSpPr txBox="1"/>
          <p:nvPr/>
        </p:nvSpPr>
        <p:spPr>
          <a:xfrm>
            <a:off x="6155457" y="4022016"/>
            <a:ext cx="12132543" cy="2785931"/>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Handled procurement documents and monitored Purchase Orders (POs)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Conducted inventory of supplies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Coordinated with suppliers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Leading the Flag Raising Ceremony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2973616"/>
            <a:ext cx="5396448" cy="5432665"/>
          </a:xfrm>
          <a:custGeom>
            <a:avLst/>
            <a:gdLst/>
            <a:ahLst/>
            <a:cxnLst/>
            <a:rect l="l" t="t" r="r" b="b"/>
            <a:pathLst>
              <a:path w="5396448" h="5432665">
                <a:moveTo>
                  <a:pt x="0" y="0"/>
                </a:moveTo>
                <a:lnTo>
                  <a:pt x="5396448" y="0"/>
                </a:lnTo>
                <a:lnTo>
                  <a:pt x="5396448" y="5432665"/>
                </a:lnTo>
                <a:lnTo>
                  <a:pt x="0" y="5432665"/>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grpSp>
        <p:nvGrpSpPr>
          <p:cNvPr id="15" name="Group 15"/>
          <p:cNvGrpSpPr/>
          <p:nvPr/>
        </p:nvGrpSpPr>
        <p:grpSpPr>
          <a:xfrm>
            <a:off x="775418" y="3242285"/>
            <a:ext cx="4246985" cy="2227969"/>
            <a:chOff x="0" y="0"/>
            <a:chExt cx="6350000" cy="3331210"/>
          </a:xfrm>
        </p:grpSpPr>
        <p:sp>
          <p:nvSpPr>
            <p:cNvPr id="16" name="Freeform 16"/>
            <p:cNvSpPr/>
            <p:nvPr/>
          </p:nvSpPr>
          <p:spPr>
            <a:xfrm>
              <a:off x="0" y="0"/>
              <a:ext cx="6350000" cy="3331210"/>
            </a:xfrm>
            <a:custGeom>
              <a:avLst/>
              <a:gdLst/>
              <a:ahLst/>
              <a:cxnLst/>
              <a:rect l="l" t="t" r="r" b="b"/>
              <a:pathLst>
                <a:path w="6350000" h="3331210">
                  <a:moveTo>
                    <a:pt x="6209030" y="0"/>
                  </a:moveTo>
                  <a:lnTo>
                    <a:pt x="140970" y="0"/>
                  </a:lnTo>
                  <a:cubicBezTo>
                    <a:pt x="63500" y="0"/>
                    <a:pt x="0" y="62230"/>
                    <a:pt x="0" y="138430"/>
                  </a:cubicBezTo>
                  <a:lnTo>
                    <a:pt x="0" y="3192780"/>
                  </a:lnTo>
                  <a:cubicBezTo>
                    <a:pt x="0" y="3268980"/>
                    <a:pt x="63500" y="3331210"/>
                    <a:pt x="140970" y="3331210"/>
                  </a:cubicBezTo>
                  <a:lnTo>
                    <a:pt x="6209030" y="3331210"/>
                  </a:lnTo>
                  <a:cubicBezTo>
                    <a:pt x="6286500" y="3331210"/>
                    <a:pt x="6350000" y="3268980"/>
                    <a:pt x="6350000" y="3192780"/>
                  </a:cubicBezTo>
                  <a:lnTo>
                    <a:pt x="6350000" y="138430"/>
                  </a:lnTo>
                  <a:cubicBezTo>
                    <a:pt x="6350000" y="62230"/>
                    <a:pt x="6286500" y="0"/>
                    <a:pt x="6209030" y="0"/>
                  </a:cubicBezTo>
                  <a:close/>
                </a:path>
              </a:pathLst>
            </a:custGeom>
            <a:blipFill>
              <a:blip r:embed="rId5">
                <a:alphaModFix amt="90000"/>
              </a:blip>
              <a:stretch>
                <a:fillRect t="-12279" b="-31162"/>
              </a:stretch>
            </a:blipFill>
            <a:ln cap="sq">
              <a:noFill/>
              <a:prstDash val="solid"/>
              <a:miter/>
            </a:ln>
          </p:spPr>
        </p:sp>
      </p:grpSp>
      <p:grpSp>
        <p:nvGrpSpPr>
          <p:cNvPr id="17" name="Group 17"/>
          <p:cNvGrpSpPr/>
          <p:nvPr/>
        </p:nvGrpSpPr>
        <p:grpSpPr>
          <a:xfrm>
            <a:off x="775418" y="5732707"/>
            <a:ext cx="4246985" cy="2227969"/>
            <a:chOff x="0" y="0"/>
            <a:chExt cx="6350000" cy="3331210"/>
          </a:xfrm>
        </p:grpSpPr>
        <p:sp>
          <p:nvSpPr>
            <p:cNvPr id="18" name="Freeform 18"/>
            <p:cNvSpPr/>
            <p:nvPr/>
          </p:nvSpPr>
          <p:spPr>
            <a:xfrm>
              <a:off x="0" y="0"/>
              <a:ext cx="6350000" cy="3331210"/>
            </a:xfrm>
            <a:custGeom>
              <a:avLst/>
              <a:gdLst/>
              <a:ahLst/>
              <a:cxnLst/>
              <a:rect l="l" t="t" r="r" b="b"/>
              <a:pathLst>
                <a:path w="6350000" h="3331210">
                  <a:moveTo>
                    <a:pt x="6209030" y="0"/>
                  </a:moveTo>
                  <a:lnTo>
                    <a:pt x="140970" y="0"/>
                  </a:lnTo>
                  <a:cubicBezTo>
                    <a:pt x="63500" y="0"/>
                    <a:pt x="0" y="62230"/>
                    <a:pt x="0" y="138430"/>
                  </a:cubicBezTo>
                  <a:lnTo>
                    <a:pt x="0" y="3192780"/>
                  </a:lnTo>
                  <a:cubicBezTo>
                    <a:pt x="0" y="3268980"/>
                    <a:pt x="63500" y="3331210"/>
                    <a:pt x="140970" y="3331210"/>
                  </a:cubicBezTo>
                  <a:lnTo>
                    <a:pt x="6209030" y="3331210"/>
                  </a:lnTo>
                  <a:cubicBezTo>
                    <a:pt x="6286500" y="3331210"/>
                    <a:pt x="6350000" y="3268980"/>
                    <a:pt x="6350000" y="3192780"/>
                  </a:cubicBezTo>
                  <a:lnTo>
                    <a:pt x="6350000" y="138430"/>
                  </a:lnTo>
                  <a:cubicBezTo>
                    <a:pt x="6350000" y="62230"/>
                    <a:pt x="6286500" y="0"/>
                    <a:pt x="6209030" y="0"/>
                  </a:cubicBezTo>
                  <a:close/>
                </a:path>
              </a:pathLst>
            </a:custGeom>
            <a:blipFill>
              <a:blip r:embed="rId6">
                <a:alphaModFix amt="90000"/>
              </a:blip>
              <a:stretch>
                <a:fillRect t="-77080" b="-77080"/>
              </a:stretch>
            </a:blipFill>
            <a:ln cap="sq">
              <a:noFill/>
              <a:prstDash val="solid"/>
              <a:miter/>
            </a:ln>
          </p:spPr>
        </p:sp>
      </p:grpSp>
      <p:sp>
        <p:nvSpPr>
          <p:cNvPr id="19" name="TextBox 19"/>
          <p:cNvSpPr txBox="1"/>
          <p:nvPr/>
        </p:nvSpPr>
        <p:spPr>
          <a:xfrm>
            <a:off x="5275685" y="2268523"/>
            <a:ext cx="13012315" cy="3909955"/>
          </a:xfrm>
          <a:prstGeom prst="rect">
            <a:avLst/>
          </a:prstGeom>
        </p:spPr>
        <p:txBody>
          <a:bodyPr lIns="0" tIns="0" rIns="0" bIns="0" rtlCol="0" anchor="t">
            <a:spAutoFit/>
          </a:bodyPr>
          <a:lstStyle/>
          <a:p>
            <a:pPr algn="l">
              <a:lnSpc>
                <a:spcPts val="4480"/>
              </a:lnSpc>
            </a:pPr>
            <a:r>
              <a:rPr lang="en-US" sz="3200" b="1">
                <a:solidFill>
                  <a:srgbClr val="000000"/>
                </a:solidFill>
                <a:latin typeface="Glacial Indifference Bold"/>
                <a:ea typeface="Glacial Indifference Bold"/>
                <a:cs typeface="Glacial Indifference Bold"/>
                <a:sym typeface="Glacial Indifference Bold"/>
              </a:rPr>
              <a:t>Technical &amp; Logistical Support</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Designed and printed intern IDs for PSU BYB, PSU SC, CLSU, and SLU OJTs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Proctored essay exams (SPCAR, EDS II, SAO applicants)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Created Customer Satisfaction Form (CSF)</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Supported events (e.g., Valentine's, Women's Month, A Cup of Reflection, ‘Salamat! Mabuhay!’)</a:t>
            </a:r>
          </a:p>
        </p:txBody>
      </p:sp>
      <p:sp>
        <p:nvSpPr>
          <p:cNvPr id="20" name="TextBox 20"/>
          <p:cNvSpPr txBox="1"/>
          <p:nvPr/>
        </p:nvSpPr>
        <p:spPr>
          <a:xfrm>
            <a:off x="5275685" y="6168953"/>
            <a:ext cx="13012315" cy="2785931"/>
          </a:xfrm>
          <a:prstGeom prst="rect">
            <a:avLst/>
          </a:prstGeom>
        </p:spPr>
        <p:txBody>
          <a:bodyPr lIns="0" tIns="0" rIns="0" bIns="0" rtlCol="0" anchor="t">
            <a:spAutoFit/>
          </a:bodyPr>
          <a:lstStyle/>
          <a:p>
            <a:pPr algn="l">
              <a:lnSpc>
                <a:spcPts val="4480"/>
              </a:lnSpc>
            </a:pPr>
            <a:r>
              <a:rPr lang="en-US" sz="3200" b="1">
                <a:solidFill>
                  <a:srgbClr val="000000"/>
                </a:solidFill>
                <a:latin typeface="Glacial Indifference Bold"/>
                <a:ea typeface="Glacial Indifference Bold"/>
                <a:cs typeface="Glacial Indifference Bold"/>
                <a:sym typeface="Glacial Indifference Bold"/>
              </a:rPr>
              <a:t>Media &amp; Documentation</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Provided photo coverage for key DEPDev events and meetings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Produced AVPs (e.g., NEDA RAISE Awards, tributes, 2nd Quarter meeting)</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Designed social media cards/posters for events and commemorations</a:t>
            </a:r>
          </a:p>
        </p:txBody>
      </p:sp>
      <p:sp>
        <p:nvSpPr>
          <p:cNvPr id="21" name="TextBox 21"/>
          <p:cNvSpPr txBox="1"/>
          <p:nvPr/>
        </p:nvSpPr>
        <p:spPr>
          <a:xfrm>
            <a:off x="1028700" y="1375757"/>
            <a:ext cx="8844669"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LEARNING EXPERIENCES - HR DIVISION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2973616"/>
            <a:ext cx="5396448" cy="5432665"/>
          </a:xfrm>
          <a:custGeom>
            <a:avLst/>
            <a:gdLst/>
            <a:ahLst/>
            <a:cxnLst/>
            <a:rect l="l" t="t" r="r" b="b"/>
            <a:pathLst>
              <a:path w="5396448" h="5432665">
                <a:moveTo>
                  <a:pt x="0" y="0"/>
                </a:moveTo>
                <a:lnTo>
                  <a:pt x="5396448" y="0"/>
                </a:lnTo>
                <a:lnTo>
                  <a:pt x="5396448" y="5432665"/>
                </a:lnTo>
                <a:lnTo>
                  <a:pt x="0" y="5432665"/>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sp>
        <p:nvSpPr>
          <p:cNvPr id="15" name="TextBox 15"/>
          <p:cNvSpPr txBox="1"/>
          <p:nvPr/>
        </p:nvSpPr>
        <p:spPr>
          <a:xfrm>
            <a:off x="1028700" y="1375757"/>
            <a:ext cx="8844669"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LEARNING EXPERIENCES - HR DIVISION</a:t>
            </a:r>
          </a:p>
        </p:txBody>
      </p:sp>
      <p:sp>
        <p:nvSpPr>
          <p:cNvPr id="16" name="TextBox 16"/>
          <p:cNvSpPr txBox="1"/>
          <p:nvPr/>
        </p:nvSpPr>
        <p:spPr>
          <a:xfrm>
            <a:off x="5723800" y="4002966"/>
            <a:ext cx="11745903" cy="2223919"/>
          </a:xfrm>
          <a:prstGeom prst="rect">
            <a:avLst/>
          </a:prstGeom>
        </p:spPr>
        <p:txBody>
          <a:bodyPr lIns="0" tIns="0" rIns="0" bIns="0" rtlCol="0" anchor="t">
            <a:spAutoFit/>
          </a:bodyPr>
          <a:lstStyle/>
          <a:p>
            <a:pPr algn="l">
              <a:lnSpc>
                <a:spcPts val="4480"/>
              </a:lnSpc>
            </a:pPr>
            <a:r>
              <a:rPr lang="en-US" sz="3200" b="1">
                <a:solidFill>
                  <a:srgbClr val="000000"/>
                </a:solidFill>
                <a:latin typeface="Glacial Indifference Bold"/>
                <a:ea typeface="Glacial Indifference Bold"/>
                <a:cs typeface="Glacial Indifference Bold"/>
                <a:sym typeface="Glacial Indifference Bold"/>
              </a:rPr>
              <a:t>Digital Innovations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Built HR Digital Repository (Figma + Google Sites)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Created filter-enabled staff/telephone directories (Google Sheets + Awesome Table)</a:t>
            </a:r>
          </a:p>
        </p:txBody>
      </p:sp>
      <p:grpSp>
        <p:nvGrpSpPr>
          <p:cNvPr id="17" name="Group 17"/>
          <p:cNvGrpSpPr/>
          <p:nvPr/>
        </p:nvGrpSpPr>
        <p:grpSpPr>
          <a:xfrm>
            <a:off x="1489550" y="2869707"/>
            <a:ext cx="3673849" cy="5259683"/>
            <a:chOff x="0" y="0"/>
            <a:chExt cx="10591800" cy="15163800"/>
          </a:xfrm>
        </p:grpSpPr>
        <p:sp>
          <p:nvSpPr>
            <p:cNvPr id="18" name="Freeform 18"/>
            <p:cNvSpPr/>
            <p:nvPr/>
          </p:nvSpPr>
          <p:spPr>
            <a:xfrm>
              <a:off x="0" y="0"/>
              <a:ext cx="10591800" cy="15163800"/>
            </a:xfrm>
            <a:custGeom>
              <a:avLst/>
              <a:gdLst/>
              <a:ahLst/>
              <a:cxnLst/>
              <a:rect l="l" t="t" r="r" b="b"/>
              <a:pathLst>
                <a:path w="10591800" h="15163800">
                  <a:moveTo>
                    <a:pt x="10591800" y="254000"/>
                  </a:moveTo>
                  <a:lnTo>
                    <a:pt x="10591800" y="14909800"/>
                  </a:lnTo>
                  <a:cubicBezTo>
                    <a:pt x="10591800" y="15050136"/>
                    <a:pt x="10478135" y="15163800"/>
                    <a:pt x="10337800" y="15163800"/>
                  </a:cubicBezTo>
                  <a:lnTo>
                    <a:pt x="254000" y="15163800"/>
                  </a:lnTo>
                  <a:cubicBezTo>
                    <a:pt x="113665" y="15163800"/>
                    <a:pt x="0" y="15050136"/>
                    <a:pt x="0" y="14909800"/>
                  </a:cubicBezTo>
                  <a:lnTo>
                    <a:pt x="0" y="254000"/>
                  </a:lnTo>
                  <a:cubicBezTo>
                    <a:pt x="0" y="113665"/>
                    <a:pt x="113665" y="0"/>
                    <a:pt x="254000" y="0"/>
                  </a:cubicBezTo>
                  <a:lnTo>
                    <a:pt x="10337800" y="0"/>
                  </a:lnTo>
                  <a:cubicBezTo>
                    <a:pt x="10478135" y="0"/>
                    <a:pt x="10591800" y="113665"/>
                    <a:pt x="10591800" y="254000"/>
                  </a:cubicBezTo>
                  <a:close/>
                </a:path>
              </a:pathLst>
            </a:custGeom>
            <a:blipFill>
              <a:blip r:embed="rId5">
                <a:alphaModFix amt="90000"/>
              </a:blip>
              <a:stretch>
                <a:fillRect l="-3687" r="-3687"/>
              </a:stretch>
            </a:blipFill>
            <a:ln cap="sq">
              <a:noFill/>
              <a:prstDash val="solid"/>
              <a:miter/>
            </a:ln>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2973616"/>
            <a:ext cx="5396448" cy="5432665"/>
          </a:xfrm>
          <a:custGeom>
            <a:avLst/>
            <a:gdLst/>
            <a:ahLst/>
            <a:cxnLst/>
            <a:rect l="l" t="t" r="r" b="b"/>
            <a:pathLst>
              <a:path w="5396448" h="5432665">
                <a:moveTo>
                  <a:pt x="0" y="0"/>
                </a:moveTo>
                <a:lnTo>
                  <a:pt x="5396448" y="0"/>
                </a:lnTo>
                <a:lnTo>
                  <a:pt x="5396448" y="5432665"/>
                </a:lnTo>
                <a:lnTo>
                  <a:pt x="0" y="5432665"/>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grpSp>
        <p:nvGrpSpPr>
          <p:cNvPr id="15" name="Group 15"/>
          <p:cNvGrpSpPr/>
          <p:nvPr/>
        </p:nvGrpSpPr>
        <p:grpSpPr>
          <a:xfrm>
            <a:off x="795767" y="2548029"/>
            <a:ext cx="2730497" cy="3909128"/>
            <a:chOff x="0" y="0"/>
            <a:chExt cx="10591800" cy="15163800"/>
          </a:xfrm>
        </p:grpSpPr>
        <p:sp>
          <p:nvSpPr>
            <p:cNvPr id="16" name="Freeform 16"/>
            <p:cNvSpPr/>
            <p:nvPr/>
          </p:nvSpPr>
          <p:spPr>
            <a:xfrm>
              <a:off x="0" y="0"/>
              <a:ext cx="10591800" cy="15163800"/>
            </a:xfrm>
            <a:custGeom>
              <a:avLst/>
              <a:gdLst/>
              <a:ahLst/>
              <a:cxnLst/>
              <a:rect l="l" t="t" r="r" b="b"/>
              <a:pathLst>
                <a:path w="10591800" h="15163800">
                  <a:moveTo>
                    <a:pt x="10591800" y="254000"/>
                  </a:moveTo>
                  <a:lnTo>
                    <a:pt x="10591800" y="14909800"/>
                  </a:lnTo>
                  <a:cubicBezTo>
                    <a:pt x="10591800" y="15050136"/>
                    <a:pt x="10478135" y="15163800"/>
                    <a:pt x="10337800" y="15163800"/>
                  </a:cubicBezTo>
                  <a:lnTo>
                    <a:pt x="254000" y="15163800"/>
                  </a:lnTo>
                  <a:cubicBezTo>
                    <a:pt x="113665" y="15163800"/>
                    <a:pt x="0" y="15050136"/>
                    <a:pt x="0" y="14909800"/>
                  </a:cubicBezTo>
                  <a:lnTo>
                    <a:pt x="0" y="254000"/>
                  </a:lnTo>
                  <a:cubicBezTo>
                    <a:pt x="0" y="113665"/>
                    <a:pt x="113665" y="0"/>
                    <a:pt x="254000" y="0"/>
                  </a:cubicBezTo>
                  <a:lnTo>
                    <a:pt x="10337800" y="0"/>
                  </a:lnTo>
                  <a:cubicBezTo>
                    <a:pt x="10478135" y="0"/>
                    <a:pt x="10591800" y="113665"/>
                    <a:pt x="10591800" y="254000"/>
                  </a:cubicBezTo>
                  <a:close/>
                </a:path>
              </a:pathLst>
            </a:custGeom>
            <a:blipFill>
              <a:blip r:embed="rId5">
                <a:alphaModFix amt="90000"/>
              </a:blip>
              <a:stretch>
                <a:fillRect l="-45443" r="-45443"/>
              </a:stretch>
            </a:blipFill>
            <a:ln cap="sq">
              <a:noFill/>
              <a:prstDash val="solid"/>
              <a:miter/>
            </a:ln>
          </p:spPr>
        </p:sp>
      </p:grpSp>
      <p:grpSp>
        <p:nvGrpSpPr>
          <p:cNvPr id="17" name="Group 17"/>
          <p:cNvGrpSpPr/>
          <p:nvPr/>
        </p:nvGrpSpPr>
        <p:grpSpPr>
          <a:xfrm>
            <a:off x="3718096" y="4872587"/>
            <a:ext cx="2730497" cy="3909128"/>
            <a:chOff x="0" y="0"/>
            <a:chExt cx="10591800" cy="15163800"/>
          </a:xfrm>
        </p:grpSpPr>
        <p:sp>
          <p:nvSpPr>
            <p:cNvPr id="18" name="Freeform 18"/>
            <p:cNvSpPr/>
            <p:nvPr/>
          </p:nvSpPr>
          <p:spPr>
            <a:xfrm>
              <a:off x="0" y="0"/>
              <a:ext cx="10591800" cy="15163800"/>
            </a:xfrm>
            <a:custGeom>
              <a:avLst/>
              <a:gdLst/>
              <a:ahLst/>
              <a:cxnLst/>
              <a:rect l="l" t="t" r="r" b="b"/>
              <a:pathLst>
                <a:path w="10591800" h="15163800">
                  <a:moveTo>
                    <a:pt x="10591800" y="254000"/>
                  </a:moveTo>
                  <a:lnTo>
                    <a:pt x="10591800" y="14909800"/>
                  </a:lnTo>
                  <a:cubicBezTo>
                    <a:pt x="10591800" y="15050136"/>
                    <a:pt x="10478135" y="15163800"/>
                    <a:pt x="10337800" y="15163800"/>
                  </a:cubicBezTo>
                  <a:lnTo>
                    <a:pt x="254000" y="15163800"/>
                  </a:lnTo>
                  <a:cubicBezTo>
                    <a:pt x="113665" y="15163800"/>
                    <a:pt x="0" y="15050136"/>
                    <a:pt x="0" y="14909800"/>
                  </a:cubicBezTo>
                  <a:lnTo>
                    <a:pt x="0" y="254000"/>
                  </a:lnTo>
                  <a:cubicBezTo>
                    <a:pt x="0" y="113665"/>
                    <a:pt x="113665" y="0"/>
                    <a:pt x="254000" y="0"/>
                  </a:cubicBezTo>
                  <a:lnTo>
                    <a:pt x="10337800" y="0"/>
                  </a:lnTo>
                  <a:cubicBezTo>
                    <a:pt x="10478135" y="0"/>
                    <a:pt x="10591800" y="113665"/>
                    <a:pt x="10591800" y="254000"/>
                  </a:cubicBezTo>
                  <a:close/>
                </a:path>
              </a:pathLst>
            </a:custGeom>
            <a:blipFill>
              <a:blip r:embed="rId6">
                <a:alphaModFix amt="90000"/>
              </a:blip>
              <a:stretch>
                <a:fillRect l="-46870" r="-44016"/>
              </a:stretch>
            </a:blipFill>
            <a:ln cap="sq">
              <a:noFill/>
              <a:prstDash val="solid"/>
              <a:miter/>
            </a:ln>
          </p:spPr>
        </p:sp>
      </p:grpSp>
      <p:sp>
        <p:nvSpPr>
          <p:cNvPr id="19" name="TextBox 19"/>
          <p:cNvSpPr txBox="1"/>
          <p:nvPr/>
        </p:nvSpPr>
        <p:spPr>
          <a:xfrm>
            <a:off x="1028700" y="1375757"/>
            <a:ext cx="11727284"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LEARNING EXPERIENCES - PHYSICAL UNIT DIVISION</a:t>
            </a:r>
          </a:p>
        </p:txBody>
      </p:sp>
      <p:sp>
        <p:nvSpPr>
          <p:cNvPr id="20" name="TextBox 20"/>
          <p:cNvSpPr txBox="1"/>
          <p:nvPr/>
        </p:nvSpPr>
        <p:spPr>
          <a:xfrm>
            <a:off x="6448593" y="4564978"/>
            <a:ext cx="10810707" cy="1099894"/>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Assisted in technical setup and support</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Helped improve the procurement system design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2973616"/>
            <a:ext cx="5396448" cy="5432665"/>
          </a:xfrm>
          <a:custGeom>
            <a:avLst/>
            <a:gdLst/>
            <a:ahLst/>
            <a:cxnLst/>
            <a:rect l="l" t="t" r="r" b="b"/>
            <a:pathLst>
              <a:path w="5396448" h="5432665">
                <a:moveTo>
                  <a:pt x="0" y="0"/>
                </a:moveTo>
                <a:lnTo>
                  <a:pt x="5396448" y="0"/>
                </a:lnTo>
                <a:lnTo>
                  <a:pt x="5396448" y="5432665"/>
                </a:lnTo>
                <a:lnTo>
                  <a:pt x="0" y="5432665"/>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grpSp>
        <p:nvGrpSpPr>
          <p:cNvPr id="15" name="Group 15"/>
          <p:cNvGrpSpPr/>
          <p:nvPr/>
        </p:nvGrpSpPr>
        <p:grpSpPr>
          <a:xfrm>
            <a:off x="1281982" y="2418345"/>
            <a:ext cx="3893320" cy="2042436"/>
            <a:chOff x="0" y="0"/>
            <a:chExt cx="6350000" cy="3331210"/>
          </a:xfrm>
        </p:grpSpPr>
        <p:sp>
          <p:nvSpPr>
            <p:cNvPr id="16" name="Freeform 16"/>
            <p:cNvSpPr/>
            <p:nvPr/>
          </p:nvSpPr>
          <p:spPr>
            <a:xfrm>
              <a:off x="0" y="0"/>
              <a:ext cx="6350000" cy="3331210"/>
            </a:xfrm>
            <a:custGeom>
              <a:avLst/>
              <a:gdLst/>
              <a:ahLst/>
              <a:cxnLst/>
              <a:rect l="l" t="t" r="r" b="b"/>
              <a:pathLst>
                <a:path w="6350000" h="3331210">
                  <a:moveTo>
                    <a:pt x="6209030" y="0"/>
                  </a:moveTo>
                  <a:lnTo>
                    <a:pt x="140970" y="0"/>
                  </a:lnTo>
                  <a:cubicBezTo>
                    <a:pt x="63500" y="0"/>
                    <a:pt x="0" y="62230"/>
                    <a:pt x="0" y="138430"/>
                  </a:cubicBezTo>
                  <a:lnTo>
                    <a:pt x="0" y="3192780"/>
                  </a:lnTo>
                  <a:cubicBezTo>
                    <a:pt x="0" y="3268980"/>
                    <a:pt x="63500" y="3331210"/>
                    <a:pt x="140970" y="3331210"/>
                  </a:cubicBezTo>
                  <a:lnTo>
                    <a:pt x="6209030" y="3331210"/>
                  </a:lnTo>
                  <a:cubicBezTo>
                    <a:pt x="6286500" y="3331210"/>
                    <a:pt x="6350000" y="3268980"/>
                    <a:pt x="6350000" y="3192780"/>
                  </a:cubicBezTo>
                  <a:lnTo>
                    <a:pt x="6350000" y="138430"/>
                  </a:lnTo>
                  <a:cubicBezTo>
                    <a:pt x="6350000" y="62230"/>
                    <a:pt x="6286500" y="0"/>
                    <a:pt x="6209030" y="0"/>
                  </a:cubicBezTo>
                  <a:close/>
                </a:path>
              </a:pathLst>
            </a:custGeom>
            <a:blipFill>
              <a:blip r:embed="rId5">
                <a:alphaModFix amt="90000"/>
              </a:blip>
              <a:stretch>
                <a:fillRect t="-21483" b="-21483"/>
              </a:stretch>
            </a:blipFill>
            <a:ln cap="sq">
              <a:noFill/>
              <a:prstDash val="solid"/>
              <a:miter/>
            </a:ln>
          </p:spPr>
        </p:sp>
      </p:grpSp>
      <p:grpSp>
        <p:nvGrpSpPr>
          <p:cNvPr id="17" name="Group 17"/>
          <p:cNvGrpSpPr/>
          <p:nvPr/>
        </p:nvGrpSpPr>
        <p:grpSpPr>
          <a:xfrm>
            <a:off x="1281982" y="4602344"/>
            <a:ext cx="3893320" cy="2042436"/>
            <a:chOff x="0" y="0"/>
            <a:chExt cx="6350000" cy="3331210"/>
          </a:xfrm>
        </p:grpSpPr>
        <p:sp>
          <p:nvSpPr>
            <p:cNvPr id="18" name="Freeform 18"/>
            <p:cNvSpPr/>
            <p:nvPr/>
          </p:nvSpPr>
          <p:spPr>
            <a:xfrm>
              <a:off x="0" y="0"/>
              <a:ext cx="6350000" cy="3331210"/>
            </a:xfrm>
            <a:custGeom>
              <a:avLst/>
              <a:gdLst/>
              <a:ahLst/>
              <a:cxnLst/>
              <a:rect l="l" t="t" r="r" b="b"/>
              <a:pathLst>
                <a:path w="6350000" h="3331210">
                  <a:moveTo>
                    <a:pt x="6209030" y="0"/>
                  </a:moveTo>
                  <a:lnTo>
                    <a:pt x="140970" y="0"/>
                  </a:lnTo>
                  <a:cubicBezTo>
                    <a:pt x="63500" y="0"/>
                    <a:pt x="0" y="62230"/>
                    <a:pt x="0" y="138430"/>
                  </a:cubicBezTo>
                  <a:lnTo>
                    <a:pt x="0" y="3192780"/>
                  </a:lnTo>
                  <a:cubicBezTo>
                    <a:pt x="0" y="3268980"/>
                    <a:pt x="63500" y="3331210"/>
                    <a:pt x="140970" y="3331210"/>
                  </a:cubicBezTo>
                  <a:lnTo>
                    <a:pt x="6209030" y="3331210"/>
                  </a:lnTo>
                  <a:cubicBezTo>
                    <a:pt x="6286500" y="3331210"/>
                    <a:pt x="6350000" y="3268980"/>
                    <a:pt x="6350000" y="3192780"/>
                  </a:cubicBezTo>
                  <a:lnTo>
                    <a:pt x="6350000" y="138430"/>
                  </a:lnTo>
                  <a:cubicBezTo>
                    <a:pt x="6350000" y="62230"/>
                    <a:pt x="6286500" y="0"/>
                    <a:pt x="6209030" y="0"/>
                  </a:cubicBezTo>
                  <a:close/>
                </a:path>
              </a:pathLst>
            </a:custGeom>
            <a:blipFill>
              <a:blip r:embed="rId6">
                <a:alphaModFix amt="90000"/>
              </a:blip>
              <a:stretch>
                <a:fillRect t="-136224" b="-17937"/>
              </a:stretch>
            </a:blipFill>
            <a:ln cap="sq">
              <a:noFill/>
              <a:prstDash val="solid"/>
              <a:miter/>
            </a:ln>
          </p:spPr>
        </p:sp>
      </p:grpSp>
      <p:grpSp>
        <p:nvGrpSpPr>
          <p:cNvPr id="19" name="Group 19"/>
          <p:cNvGrpSpPr/>
          <p:nvPr/>
        </p:nvGrpSpPr>
        <p:grpSpPr>
          <a:xfrm>
            <a:off x="1281982" y="6786342"/>
            <a:ext cx="3893320" cy="2042436"/>
            <a:chOff x="0" y="0"/>
            <a:chExt cx="6350000" cy="3331210"/>
          </a:xfrm>
        </p:grpSpPr>
        <p:sp>
          <p:nvSpPr>
            <p:cNvPr id="20" name="Freeform 20"/>
            <p:cNvSpPr/>
            <p:nvPr/>
          </p:nvSpPr>
          <p:spPr>
            <a:xfrm>
              <a:off x="0" y="0"/>
              <a:ext cx="6350000" cy="3331210"/>
            </a:xfrm>
            <a:custGeom>
              <a:avLst/>
              <a:gdLst/>
              <a:ahLst/>
              <a:cxnLst/>
              <a:rect l="l" t="t" r="r" b="b"/>
              <a:pathLst>
                <a:path w="6350000" h="3331210">
                  <a:moveTo>
                    <a:pt x="6209030" y="0"/>
                  </a:moveTo>
                  <a:lnTo>
                    <a:pt x="140970" y="0"/>
                  </a:lnTo>
                  <a:cubicBezTo>
                    <a:pt x="63500" y="0"/>
                    <a:pt x="0" y="62230"/>
                    <a:pt x="0" y="138430"/>
                  </a:cubicBezTo>
                  <a:lnTo>
                    <a:pt x="0" y="3192780"/>
                  </a:lnTo>
                  <a:cubicBezTo>
                    <a:pt x="0" y="3268980"/>
                    <a:pt x="63500" y="3331210"/>
                    <a:pt x="140970" y="3331210"/>
                  </a:cubicBezTo>
                  <a:lnTo>
                    <a:pt x="6209030" y="3331210"/>
                  </a:lnTo>
                  <a:cubicBezTo>
                    <a:pt x="6286500" y="3331210"/>
                    <a:pt x="6350000" y="3268980"/>
                    <a:pt x="6350000" y="3192780"/>
                  </a:cubicBezTo>
                  <a:lnTo>
                    <a:pt x="6350000" y="138430"/>
                  </a:lnTo>
                  <a:cubicBezTo>
                    <a:pt x="6350000" y="62230"/>
                    <a:pt x="6286500" y="0"/>
                    <a:pt x="6209030" y="0"/>
                  </a:cubicBezTo>
                  <a:close/>
                </a:path>
              </a:pathLst>
            </a:custGeom>
            <a:blipFill>
              <a:blip r:embed="rId7">
                <a:alphaModFix amt="90000"/>
              </a:blip>
              <a:stretch>
                <a:fillRect t="-21483" b="-21483"/>
              </a:stretch>
            </a:blipFill>
            <a:ln cap="sq">
              <a:noFill/>
              <a:prstDash val="solid"/>
              <a:miter/>
            </a:ln>
          </p:spPr>
        </p:sp>
      </p:grpSp>
      <p:sp>
        <p:nvSpPr>
          <p:cNvPr id="21" name="TextBox 21"/>
          <p:cNvSpPr txBox="1"/>
          <p:nvPr/>
        </p:nvSpPr>
        <p:spPr>
          <a:xfrm>
            <a:off x="1028700" y="1375757"/>
            <a:ext cx="9793635"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LEARNING EXPERIENCES - SPCAR DIVISION</a:t>
            </a:r>
          </a:p>
        </p:txBody>
      </p:sp>
      <p:sp>
        <p:nvSpPr>
          <p:cNvPr id="22" name="TextBox 22"/>
          <p:cNvSpPr txBox="1"/>
          <p:nvPr/>
        </p:nvSpPr>
        <p:spPr>
          <a:xfrm>
            <a:off x="5642783" y="2637208"/>
            <a:ext cx="10810707" cy="2223919"/>
          </a:xfrm>
          <a:prstGeom prst="rect">
            <a:avLst/>
          </a:prstGeom>
        </p:spPr>
        <p:txBody>
          <a:bodyPr lIns="0" tIns="0" rIns="0" bIns="0" rtlCol="0" anchor="t">
            <a:spAutoFit/>
          </a:bodyPr>
          <a:lstStyle/>
          <a:p>
            <a:pPr algn="l">
              <a:lnSpc>
                <a:spcPts val="4480"/>
              </a:lnSpc>
            </a:pPr>
            <a:r>
              <a:rPr lang="en-US" sz="3200" b="1">
                <a:solidFill>
                  <a:srgbClr val="000000"/>
                </a:solidFill>
                <a:latin typeface="Glacial Indifference Bold"/>
                <a:ea typeface="Glacial Indifference Bold"/>
                <a:cs typeface="Glacial Indifference Bold"/>
                <a:sym typeface="Glacial Indifference Bold"/>
              </a:rPr>
              <a:t>Website &amp; Analytics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Re-designed SPCAR’s internal website</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Embedded budget analytics using Looker Studio</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Added interactive and database functionalities</a:t>
            </a:r>
          </a:p>
        </p:txBody>
      </p:sp>
      <p:sp>
        <p:nvSpPr>
          <p:cNvPr id="23" name="TextBox 23"/>
          <p:cNvSpPr txBox="1"/>
          <p:nvPr/>
        </p:nvSpPr>
        <p:spPr>
          <a:xfrm>
            <a:off x="5642783" y="5327852"/>
            <a:ext cx="10810707" cy="2785931"/>
          </a:xfrm>
          <a:prstGeom prst="rect">
            <a:avLst/>
          </a:prstGeom>
        </p:spPr>
        <p:txBody>
          <a:bodyPr lIns="0" tIns="0" rIns="0" bIns="0" rtlCol="0" anchor="t">
            <a:spAutoFit/>
          </a:bodyPr>
          <a:lstStyle/>
          <a:p>
            <a:pPr algn="l">
              <a:lnSpc>
                <a:spcPts val="4480"/>
              </a:lnSpc>
            </a:pPr>
            <a:r>
              <a:rPr lang="en-US" sz="3200" b="1">
                <a:solidFill>
                  <a:srgbClr val="000000"/>
                </a:solidFill>
                <a:latin typeface="Glacial Indifference Bold"/>
                <a:ea typeface="Glacial Indifference Bold"/>
                <a:cs typeface="Glacial Indifference Bold"/>
                <a:sym typeface="Glacial Indifference Bold"/>
              </a:rPr>
              <a:t>Data &amp; Events Management</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Monitored supplies and consolidated budget/data from agencies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Created templates for tarpaulins and certificates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Animated a 2D mascot for autonomy campaign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2973616"/>
            <a:ext cx="5396448" cy="5432665"/>
          </a:xfrm>
          <a:custGeom>
            <a:avLst/>
            <a:gdLst/>
            <a:ahLst/>
            <a:cxnLst/>
            <a:rect l="l" t="t" r="r" b="b"/>
            <a:pathLst>
              <a:path w="5396448" h="5432665">
                <a:moveTo>
                  <a:pt x="0" y="0"/>
                </a:moveTo>
                <a:lnTo>
                  <a:pt x="5396448" y="0"/>
                </a:lnTo>
                <a:lnTo>
                  <a:pt x="5396448" y="5432665"/>
                </a:lnTo>
                <a:lnTo>
                  <a:pt x="0" y="5432665"/>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grpSp>
        <p:nvGrpSpPr>
          <p:cNvPr id="15" name="Group 15"/>
          <p:cNvGrpSpPr/>
          <p:nvPr/>
        </p:nvGrpSpPr>
        <p:grpSpPr>
          <a:xfrm>
            <a:off x="1374391" y="6807559"/>
            <a:ext cx="3893320" cy="2042436"/>
            <a:chOff x="0" y="0"/>
            <a:chExt cx="6350000" cy="3331210"/>
          </a:xfrm>
        </p:grpSpPr>
        <p:sp>
          <p:nvSpPr>
            <p:cNvPr id="16" name="Freeform 16"/>
            <p:cNvSpPr/>
            <p:nvPr/>
          </p:nvSpPr>
          <p:spPr>
            <a:xfrm>
              <a:off x="0" y="0"/>
              <a:ext cx="6350000" cy="3331210"/>
            </a:xfrm>
            <a:custGeom>
              <a:avLst/>
              <a:gdLst/>
              <a:ahLst/>
              <a:cxnLst/>
              <a:rect l="l" t="t" r="r" b="b"/>
              <a:pathLst>
                <a:path w="6350000" h="3331210">
                  <a:moveTo>
                    <a:pt x="6209030" y="0"/>
                  </a:moveTo>
                  <a:lnTo>
                    <a:pt x="140970" y="0"/>
                  </a:lnTo>
                  <a:cubicBezTo>
                    <a:pt x="63500" y="0"/>
                    <a:pt x="0" y="62230"/>
                    <a:pt x="0" y="138430"/>
                  </a:cubicBezTo>
                  <a:lnTo>
                    <a:pt x="0" y="3192780"/>
                  </a:lnTo>
                  <a:cubicBezTo>
                    <a:pt x="0" y="3268980"/>
                    <a:pt x="63500" y="3331210"/>
                    <a:pt x="140970" y="3331210"/>
                  </a:cubicBezTo>
                  <a:lnTo>
                    <a:pt x="6209030" y="3331210"/>
                  </a:lnTo>
                  <a:cubicBezTo>
                    <a:pt x="6286500" y="3331210"/>
                    <a:pt x="6350000" y="3268980"/>
                    <a:pt x="6350000" y="3192780"/>
                  </a:cubicBezTo>
                  <a:lnTo>
                    <a:pt x="6350000" y="138430"/>
                  </a:lnTo>
                  <a:cubicBezTo>
                    <a:pt x="6350000" y="62230"/>
                    <a:pt x="6286500" y="0"/>
                    <a:pt x="6209030" y="0"/>
                  </a:cubicBezTo>
                  <a:close/>
                </a:path>
              </a:pathLst>
            </a:custGeom>
            <a:blipFill>
              <a:blip r:embed="rId5">
                <a:alphaModFix amt="90000"/>
              </a:blip>
              <a:stretch>
                <a:fillRect t="-21483" b="-21483"/>
              </a:stretch>
            </a:blipFill>
            <a:ln cap="sq">
              <a:noFill/>
              <a:prstDash val="solid"/>
              <a:miter/>
            </a:ln>
          </p:spPr>
        </p:sp>
      </p:grpSp>
      <p:grpSp>
        <p:nvGrpSpPr>
          <p:cNvPr id="17" name="Group 17"/>
          <p:cNvGrpSpPr/>
          <p:nvPr/>
        </p:nvGrpSpPr>
        <p:grpSpPr>
          <a:xfrm>
            <a:off x="498146" y="2762914"/>
            <a:ext cx="2730497" cy="3909128"/>
            <a:chOff x="0" y="0"/>
            <a:chExt cx="10591800" cy="15163800"/>
          </a:xfrm>
        </p:grpSpPr>
        <p:sp>
          <p:nvSpPr>
            <p:cNvPr id="18" name="Freeform 18"/>
            <p:cNvSpPr/>
            <p:nvPr/>
          </p:nvSpPr>
          <p:spPr>
            <a:xfrm>
              <a:off x="0" y="0"/>
              <a:ext cx="10591800" cy="15163800"/>
            </a:xfrm>
            <a:custGeom>
              <a:avLst/>
              <a:gdLst/>
              <a:ahLst/>
              <a:cxnLst/>
              <a:rect l="l" t="t" r="r" b="b"/>
              <a:pathLst>
                <a:path w="10591800" h="15163800">
                  <a:moveTo>
                    <a:pt x="10591800" y="254000"/>
                  </a:moveTo>
                  <a:lnTo>
                    <a:pt x="10591800" y="14909800"/>
                  </a:lnTo>
                  <a:cubicBezTo>
                    <a:pt x="10591800" y="15050136"/>
                    <a:pt x="10478135" y="15163800"/>
                    <a:pt x="10337800" y="15163800"/>
                  </a:cubicBezTo>
                  <a:lnTo>
                    <a:pt x="254000" y="15163800"/>
                  </a:lnTo>
                  <a:cubicBezTo>
                    <a:pt x="113665" y="15163800"/>
                    <a:pt x="0" y="15050136"/>
                    <a:pt x="0" y="14909800"/>
                  </a:cubicBezTo>
                  <a:lnTo>
                    <a:pt x="0" y="254000"/>
                  </a:lnTo>
                  <a:cubicBezTo>
                    <a:pt x="0" y="113665"/>
                    <a:pt x="113665" y="0"/>
                    <a:pt x="254000" y="0"/>
                  </a:cubicBezTo>
                  <a:lnTo>
                    <a:pt x="10337800" y="0"/>
                  </a:lnTo>
                  <a:cubicBezTo>
                    <a:pt x="10478135" y="0"/>
                    <a:pt x="10591800" y="113665"/>
                    <a:pt x="10591800" y="254000"/>
                  </a:cubicBezTo>
                  <a:close/>
                </a:path>
              </a:pathLst>
            </a:custGeom>
            <a:blipFill>
              <a:blip r:embed="rId6">
                <a:alphaModFix amt="90000"/>
              </a:blip>
              <a:stretch>
                <a:fillRect l="-3687" r="-3687"/>
              </a:stretch>
            </a:blipFill>
            <a:ln cap="sq">
              <a:noFill/>
              <a:prstDash val="solid"/>
              <a:miter/>
            </a:ln>
          </p:spPr>
        </p:sp>
      </p:grpSp>
      <p:grpSp>
        <p:nvGrpSpPr>
          <p:cNvPr id="19" name="Group 19"/>
          <p:cNvGrpSpPr/>
          <p:nvPr/>
        </p:nvGrpSpPr>
        <p:grpSpPr>
          <a:xfrm>
            <a:off x="3378201" y="2762914"/>
            <a:ext cx="2730497" cy="3909128"/>
            <a:chOff x="0" y="0"/>
            <a:chExt cx="10591800" cy="15163800"/>
          </a:xfrm>
        </p:grpSpPr>
        <p:sp>
          <p:nvSpPr>
            <p:cNvPr id="20" name="Freeform 20"/>
            <p:cNvSpPr/>
            <p:nvPr/>
          </p:nvSpPr>
          <p:spPr>
            <a:xfrm>
              <a:off x="0" y="0"/>
              <a:ext cx="10591800" cy="15163800"/>
            </a:xfrm>
            <a:custGeom>
              <a:avLst/>
              <a:gdLst/>
              <a:ahLst/>
              <a:cxnLst/>
              <a:rect l="l" t="t" r="r" b="b"/>
              <a:pathLst>
                <a:path w="10591800" h="15163800">
                  <a:moveTo>
                    <a:pt x="10591800" y="254000"/>
                  </a:moveTo>
                  <a:lnTo>
                    <a:pt x="10591800" y="14909800"/>
                  </a:lnTo>
                  <a:cubicBezTo>
                    <a:pt x="10591800" y="15050136"/>
                    <a:pt x="10478135" y="15163800"/>
                    <a:pt x="10337800" y="15163800"/>
                  </a:cubicBezTo>
                  <a:lnTo>
                    <a:pt x="254000" y="15163800"/>
                  </a:lnTo>
                  <a:cubicBezTo>
                    <a:pt x="113665" y="15163800"/>
                    <a:pt x="0" y="15050136"/>
                    <a:pt x="0" y="14909800"/>
                  </a:cubicBezTo>
                  <a:lnTo>
                    <a:pt x="0" y="254000"/>
                  </a:lnTo>
                  <a:cubicBezTo>
                    <a:pt x="0" y="113665"/>
                    <a:pt x="113665" y="0"/>
                    <a:pt x="254000" y="0"/>
                  </a:cubicBezTo>
                  <a:lnTo>
                    <a:pt x="10337800" y="0"/>
                  </a:lnTo>
                  <a:cubicBezTo>
                    <a:pt x="10478135" y="0"/>
                    <a:pt x="10591800" y="113665"/>
                    <a:pt x="10591800" y="254000"/>
                  </a:cubicBezTo>
                  <a:close/>
                </a:path>
              </a:pathLst>
            </a:custGeom>
            <a:blipFill>
              <a:blip r:embed="rId7">
                <a:alphaModFix amt="90000"/>
              </a:blip>
              <a:stretch>
                <a:fillRect l="-3687" r="-3687"/>
              </a:stretch>
            </a:blipFill>
            <a:ln cap="sq">
              <a:noFill/>
              <a:prstDash val="solid"/>
              <a:miter/>
            </a:ln>
          </p:spPr>
        </p:sp>
      </p:grpSp>
      <p:sp>
        <p:nvSpPr>
          <p:cNvPr id="21" name="TextBox 21"/>
          <p:cNvSpPr txBox="1"/>
          <p:nvPr/>
        </p:nvSpPr>
        <p:spPr>
          <a:xfrm>
            <a:off x="1028700" y="1375757"/>
            <a:ext cx="9793635"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LEARNING EXPERIENCES - SPCAR DIVISION</a:t>
            </a:r>
          </a:p>
        </p:txBody>
      </p:sp>
      <p:sp>
        <p:nvSpPr>
          <p:cNvPr id="22" name="TextBox 22"/>
          <p:cNvSpPr txBox="1"/>
          <p:nvPr/>
        </p:nvSpPr>
        <p:spPr>
          <a:xfrm>
            <a:off x="6448593" y="3329314"/>
            <a:ext cx="10810707" cy="3909955"/>
          </a:xfrm>
          <a:prstGeom prst="rect">
            <a:avLst/>
          </a:prstGeom>
        </p:spPr>
        <p:txBody>
          <a:bodyPr lIns="0" tIns="0" rIns="0" bIns="0" rtlCol="0" anchor="t">
            <a:spAutoFit/>
          </a:bodyPr>
          <a:lstStyle/>
          <a:p>
            <a:pPr algn="l">
              <a:lnSpc>
                <a:spcPts val="4480"/>
              </a:lnSpc>
            </a:pPr>
            <a:r>
              <a:rPr lang="en-US" sz="3200" b="1">
                <a:solidFill>
                  <a:srgbClr val="000000"/>
                </a:solidFill>
                <a:latin typeface="Glacial Indifference Bold"/>
                <a:ea typeface="Glacial Indifference Bold"/>
                <a:cs typeface="Glacial Indifference Bold"/>
                <a:sym typeface="Glacial Indifference Bold"/>
              </a:rPr>
              <a:t>Workshops &amp; Coordination</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Hosted and managed Zoom coordination meeting</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Mail merged and distributed agency invitations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Prepared, checked, and transported event utilities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Operated audio-visuals during 2-day Stakeholders’ Workshop</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Assisted in agency presentations and discussions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2973616"/>
            <a:ext cx="5396448" cy="5432665"/>
          </a:xfrm>
          <a:custGeom>
            <a:avLst/>
            <a:gdLst/>
            <a:ahLst/>
            <a:cxnLst/>
            <a:rect l="l" t="t" r="r" b="b"/>
            <a:pathLst>
              <a:path w="5396448" h="5432665">
                <a:moveTo>
                  <a:pt x="0" y="0"/>
                </a:moveTo>
                <a:lnTo>
                  <a:pt x="5396448" y="0"/>
                </a:lnTo>
                <a:lnTo>
                  <a:pt x="5396448" y="5432665"/>
                </a:lnTo>
                <a:lnTo>
                  <a:pt x="0" y="5432665"/>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sp>
        <p:nvSpPr>
          <p:cNvPr id="15" name="TextBox 15"/>
          <p:cNvSpPr txBox="1"/>
          <p:nvPr/>
        </p:nvSpPr>
        <p:spPr>
          <a:xfrm>
            <a:off x="5973999" y="3178997"/>
            <a:ext cx="10810707" cy="3909955"/>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Updated policy and planning portal sites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Created and geo-mapped databases (DOH, DepEd)</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Maintained Network-Attached Storage (NAS)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Supported 1st Quarter RDC Meeting and RRP Writeshop</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Designed booth for Women’s Month Closing</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Assisted in document printing, sorting, and binding for DevAd Meeting</a:t>
            </a:r>
          </a:p>
        </p:txBody>
      </p:sp>
      <p:grpSp>
        <p:nvGrpSpPr>
          <p:cNvPr id="16" name="Group 16"/>
          <p:cNvGrpSpPr/>
          <p:nvPr/>
        </p:nvGrpSpPr>
        <p:grpSpPr>
          <a:xfrm>
            <a:off x="1034104" y="2367804"/>
            <a:ext cx="3413262" cy="3413262"/>
            <a:chOff x="0" y="0"/>
            <a:chExt cx="6350000" cy="6350000"/>
          </a:xfrm>
        </p:grpSpPr>
        <p:sp>
          <p:nvSpPr>
            <p:cNvPr id="17" name="Freeform 17"/>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5"/>
              <a:stretch>
                <a:fillRect l="-16666" r="-16666"/>
              </a:stretch>
            </a:blipFill>
          </p:spPr>
        </p:sp>
      </p:grpSp>
      <p:grpSp>
        <p:nvGrpSpPr>
          <p:cNvPr id="18" name="Group 18"/>
          <p:cNvGrpSpPr/>
          <p:nvPr/>
        </p:nvGrpSpPr>
        <p:grpSpPr>
          <a:xfrm>
            <a:off x="2882721" y="4279863"/>
            <a:ext cx="3413262" cy="3413262"/>
            <a:chOff x="0" y="0"/>
            <a:chExt cx="6350000" cy="6350000"/>
          </a:xfrm>
        </p:grpSpPr>
        <p:sp>
          <p:nvSpPr>
            <p:cNvPr id="19" name="Freeform 19"/>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l="-16666" r="-16666"/>
              </a:stretch>
            </a:blipFill>
          </p:spPr>
        </p:sp>
      </p:grpSp>
      <p:grpSp>
        <p:nvGrpSpPr>
          <p:cNvPr id="20" name="Group 20"/>
          <p:cNvGrpSpPr/>
          <p:nvPr/>
        </p:nvGrpSpPr>
        <p:grpSpPr>
          <a:xfrm>
            <a:off x="897714" y="5781066"/>
            <a:ext cx="3413262" cy="3413262"/>
            <a:chOff x="0" y="0"/>
            <a:chExt cx="6350000" cy="6350000"/>
          </a:xfrm>
        </p:grpSpPr>
        <p:sp>
          <p:nvSpPr>
            <p:cNvPr id="21" name="Freeform 21"/>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t="-16666" b="-16666"/>
              </a:stretch>
            </a:blipFill>
          </p:spPr>
        </p:sp>
      </p:grpSp>
      <p:sp>
        <p:nvSpPr>
          <p:cNvPr id="22" name="TextBox 22"/>
          <p:cNvSpPr txBox="1"/>
          <p:nvPr/>
        </p:nvSpPr>
        <p:spPr>
          <a:xfrm>
            <a:off x="1028700" y="1375757"/>
            <a:ext cx="10579819"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LEARNING EXPERIENCES - PLANNING DIVISION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2973616"/>
            <a:ext cx="5396448" cy="5432665"/>
          </a:xfrm>
          <a:custGeom>
            <a:avLst/>
            <a:gdLst/>
            <a:ahLst/>
            <a:cxnLst/>
            <a:rect l="l" t="t" r="r" b="b"/>
            <a:pathLst>
              <a:path w="5396448" h="5432665">
                <a:moveTo>
                  <a:pt x="0" y="0"/>
                </a:moveTo>
                <a:lnTo>
                  <a:pt x="5396448" y="0"/>
                </a:lnTo>
                <a:lnTo>
                  <a:pt x="5396448" y="5432665"/>
                </a:lnTo>
                <a:lnTo>
                  <a:pt x="0" y="5432665"/>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sp>
        <p:nvSpPr>
          <p:cNvPr id="15" name="TextBox 15"/>
          <p:cNvSpPr txBox="1"/>
          <p:nvPr/>
        </p:nvSpPr>
        <p:spPr>
          <a:xfrm>
            <a:off x="5973999" y="2637208"/>
            <a:ext cx="10810707" cy="5595992"/>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Developed dynamic resolution tracking system</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Edited RDC resolutions and managed transmittals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Built 2027 National Conference &amp; RDC portal sites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Designed AVPs, tarpaulins, and meeting labels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Conducted inventory and created tracking matrix</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Participated in autonomy and inter-agency workshops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Researched BARMM, NCMF, IAG, and DEPDev-CAR</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Attended planning and agency transition meetings</a:t>
            </a:r>
          </a:p>
          <a:p>
            <a:pPr marL="690881" lvl="1" indent="-345440" algn="l">
              <a:lnSpc>
                <a:spcPts val="4480"/>
              </a:lnSpc>
              <a:buFont typeface="Arial"/>
              <a:buChar char="•"/>
            </a:pPr>
            <a:r>
              <a:rPr lang="en-US" sz="3200">
                <a:solidFill>
                  <a:srgbClr val="000000"/>
                </a:solidFill>
                <a:latin typeface="Glacial Indifference"/>
                <a:ea typeface="Glacial Indifference"/>
                <a:cs typeface="Glacial Indifference"/>
                <a:sym typeface="Glacial Indifference"/>
              </a:rPr>
              <a:t>Led graphics and design improvements for sites and internal assets</a:t>
            </a:r>
          </a:p>
        </p:txBody>
      </p:sp>
      <p:grpSp>
        <p:nvGrpSpPr>
          <p:cNvPr id="16" name="Group 16"/>
          <p:cNvGrpSpPr/>
          <p:nvPr/>
        </p:nvGrpSpPr>
        <p:grpSpPr>
          <a:xfrm>
            <a:off x="1589732" y="2525920"/>
            <a:ext cx="3413262" cy="3413262"/>
            <a:chOff x="0" y="0"/>
            <a:chExt cx="6350000" cy="6350000"/>
          </a:xfrm>
        </p:grpSpPr>
        <p:sp>
          <p:nvSpPr>
            <p:cNvPr id="17" name="Freeform 17"/>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5"/>
              <a:stretch>
                <a:fillRect l="-16666" r="-16666"/>
              </a:stretch>
            </a:blipFill>
          </p:spPr>
        </p:sp>
      </p:grpSp>
      <p:grpSp>
        <p:nvGrpSpPr>
          <p:cNvPr id="18" name="Group 18"/>
          <p:cNvGrpSpPr/>
          <p:nvPr/>
        </p:nvGrpSpPr>
        <p:grpSpPr>
          <a:xfrm>
            <a:off x="2987525" y="5093150"/>
            <a:ext cx="3413262" cy="3413262"/>
            <a:chOff x="0" y="0"/>
            <a:chExt cx="6350000" cy="6350000"/>
          </a:xfrm>
        </p:grpSpPr>
        <p:sp>
          <p:nvSpPr>
            <p:cNvPr id="19" name="Freeform 19"/>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l="-16666" r="-16666"/>
              </a:stretch>
            </a:blipFill>
          </p:spPr>
        </p:sp>
      </p:grpSp>
      <p:grpSp>
        <p:nvGrpSpPr>
          <p:cNvPr id="20" name="Group 20"/>
          <p:cNvGrpSpPr/>
          <p:nvPr/>
        </p:nvGrpSpPr>
        <p:grpSpPr>
          <a:xfrm>
            <a:off x="57150" y="5093150"/>
            <a:ext cx="3413262" cy="3413262"/>
            <a:chOff x="0" y="0"/>
            <a:chExt cx="6350000" cy="6350000"/>
          </a:xfrm>
        </p:grpSpPr>
        <p:sp>
          <p:nvSpPr>
            <p:cNvPr id="21" name="Freeform 21"/>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l="-16666" r="-16666"/>
              </a:stretch>
            </a:blipFill>
          </p:spPr>
        </p:sp>
      </p:grpSp>
      <p:sp>
        <p:nvSpPr>
          <p:cNvPr id="22" name="TextBox 22"/>
          <p:cNvSpPr txBox="1"/>
          <p:nvPr/>
        </p:nvSpPr>
        <p:spPr>
          <a:xfrm>
            <a:off x="1028700" y="1375757"/>
            <a:ext cx="9143628"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LEARNING EXPERIENCES - ORD DIVISION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442296" y="1983761"/>
            <a:ext cx="6853048" cy="6899041"/>
          </a:xfrm>
          <a:custGeom>
            <a:avLst/>
            <a:gdLst/>
            <a:ahLst/>
            <a:cxnLst/>
            <a:rect l="l" t="t" r="r" b="b"/>
            <a:pathLst>
              <a:path w="6853048" h="6899041">
                <a:moveTo>
                  <a:pt x="0" y="0"/>
                </a:moveTo>
                <a:lnTo>
                  <a:pt x="6853047" y="0"/>
                </a:lnTo>
                <a:lnTo>
                  <a:pt x="6853047" y="6899041"/>
                </a:lnTo>
                <a:lnTo>
                  <a:pt x="0" y="6899041"/>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sp>
        <p:nvSpPr>
          <p:cNvPr id="15" name="TextBox 15"/>
          <p:cNvSpPr txBox="1"/>
          <p:nvPr/>
        </p:nvSpPr>
        <p:spPr>
          <a:xfrm>
            <a:off x="753044" y="1017585"/>
            <a:ext cx="5010671" cy="794725"/>
          </a:xfrm>
          <a:prstGeom prst="rect">
            <a:avLst/>
          </a:prstGeom>
        </p:spPr>
        <p:txBody>
          <a:bodyPr lIns="0" tIns="0" rIns="0" bIns="0" rtlCol="0" anchor="t">
            <a:spAutoFit/>
          </a:bodyPr>
          <a:lstStyle/>
          <a:p>
            <a:pPr algn="ctr">
              <a:lnSpc>
                <a:spcPts val="6592"/>
              </a:lnSpc>
              <a:spcBef>
                <a:spcPct val="0"/>
              </a:spcBef>
            </a:pPr>
            <a:r>
              <a:rPr lang="en-US" sz="4708">
                <a:solidFill>
                  <a:srgbClr val="000000"/>
                </a:solidFill>
                <a:latin typeface="Norwester"/>
                <a:ea typeface="Norwester"/>
                <a:cs typeface="Norwester"/>
                <a:sym typeface="Norwester"/>
              </a:rPr>
              <a:t>general impression</a:t>
            </a:r>
          </a:p>
        </p:txBody>
      </p:sp>
      <p:sp>
        <p:nvSpPr>
          <p:cNvPr id="16" name="TextBox 16"/>
          <p:cNvSpPr txBox="1"/>
          <p:nvPr/>
        </p:nvSpPr>
        <p:spPr>
          <a:xfrm>
            <a:off x="753044" y="1926611"/>
            <a:ext cx="17317556" cy="7844041"/>
          </a:xfrm>
          <a:prstGeom prst="rect">
            <a:avLst/>
          </a:prstGeom>
        </p:spPr>
        <p:txBody>
          <a:bodyPr lIns="0" tIns="0" rIns="0" bIns="0" rtlCol="0" anchor="t">
            <a:spAutoFit/>
          </a:bodyPr>
          <a:lstStyle/>
          <a:p>
            <a:pPr algn="l">
              <a:lnSpc>
                <a:spcPts val="4480"/>
              </a:lnSpc>
            </a:pPr>
            <a:r>
              <a:rPr lang="en-US" sz="3200">
                <a:solidFill>
                  <a:srgbClr val="000000"/>
                </a:solidFill>
                <a:latin typeface="Glacial Indifference"/>
                <a:ea typeface="Glacial Indifference"/>
                <a:cs typeface="Glacial Indifference"/>
                <a:sym typeface="Glacial Indifference"/>
              </a:rPr>
              <a:t>Our internship at DEPDev-CAR was a truly enriching experience that gave us a deeper understanding of how a government planning agency operates in real-world settings. Each division—from HR, SPCAR, ORD, Planning, to Physical Resources and Supply—offered distinct roles that allowed us to apply our academic knowledge while learning new technical and interpersonal skills. Whether we were building websites, designing communication materials, managing databases, or supporting major regional events, we saw how every task—big or small—contributes to the broader goals of inclusive and sustainable development. </a:t>
            </a:r>
          </a:p>
          <a:p>
            <a:pPr algn="l">
              <a:lnSpc>
                <a:spcPts val="4480"/>
              </a:lnSpc>
            </a:pPr>
            <a:r>
              <a:rPr lang="en-US" sz="3200">
                <a:solidFill>
                  <a:srgbClr val="000000"/>
                </a:solidFill>
                <a:latin typeface="Glacial Indifference"/>
                <a:ea typeface="Glacial Indifference"/>
                <a:cs typeface="Glacial Indifference"/>
                <a:sym typeface="Glacial Indifference"/>
              </a:rPr>
              <a:t>We are genuinely grateful to the entire DEPDev team for their guidance, patience, and trust throughout our internship journey. The welcoming environment, collaborative spirit, and supportive mentorship helped us grow not just as trainees, but as individuals preparing for the professional world. Being part of DEPDev’s mission, even in a small way, has left a lasting impact on us. Thank you for allowing us to learn, contribute, and be inspired by the work that truly makes a difference in the region.</a:t>
            </a:r>
          </a:p>
          <a:p>
            <a:pPr algn="l">
              <a:lnSpc>
                <a:spcPts val="4480"/>
              </a:lnSpc>
            </a:pPr>
            <a:endParaRPr lang="en-US" sz="3200">
              <a:solidFill>
                <a:srgbClr val="000000"/>
              </a:solidFill>
              <a:latin typeface="Glacial Indifference"/>
              <a:ea typeface="Glacial Indifference"/>
              <a:cs typeface="Glacial Indifference"/>
              <a:sym typeface="Glacial Indifferenc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77317" y="2427167"/>
            <a:ext cx="5396448" cy="5432665"/>
          </a:xfrm>
          <a:custGeom>
            <a:avLst/>
            <a:gdLst/>
            <a:ahLst/>
            <a:cxnLst/>
            <a:rect l="l" t="t" r="r" b="b"/>
            <a:pathLst>
              <a:path w="5396448" h="5432665">
                <a:moveTo>
                  <a:pt x="0" y="0"/>
                </a:moveTo>
                <a:lnTo>
                  <a:pt x="5396447" y="0"/>
                </a:lnTo>
                <a:lnTo>
                  <a:pt x="5396447" y="5432666"/>
                </a:lnTo>
                <a:lnTo>
                  <a:pt x="0" y="5432666"/>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grpSp>
        <p:nvGrpSpPr>
          <p:cNvPr id="15" name="Group 15"/>
          <p:cNvGrpSpPr/>
          <p:nvPr/>
        </p:nvGrpSpPr>
        <p:grpSpPr>
          <a:xfrm>
            <a:off x="3609734" y="2441435"/>
            <a:ext cx="3317974" cy="3317974"/>
            <a:chOff x="0" y="0"/>
            <a:chExt cx="6350000" cy="6350000"/>
          </a:xfrm>
        </p:grpSpPr>
        <p:sp>
          <p:nvSpPr>
            <p:cNvPr id="16" name="Freeform 16"/>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5"/>
              <a:stretch>
                <a:fillRect/>
              </a:stretch>
            </a:blipFill>
          </p:spPr>
        </p:sp>
      </p:grpSp>
      <p:sp>
        <p:nvSpPr>
          <p:cNvPr id="17" name="TextBox 17"/>
          <p:cNvSpPr txBox="1"/>
          <p:nvPr/>
        </p:nvSpPr>
        <p:spPr>
          <a:xfrm>
            <a:off x="1873561" y="5673684"/>
            <a:ext cx="6790321" cy="760428"/>
          </a:xfrm>
          <a:prstGeom prst="rect">
            <a:avLst/>
          </a:prstGeom>
        </p:spPr>
        <p:txBody>
          <a:bodyPr lIns="0" tIns="0" rIns="0" bIns="0" rtlCol="0" anchor="t">
            <a:spAutoFit/>
          </a:bodyPr>
          <a:lstStyle/>
          <a:p>
            <a:pPr algn="ctr">
              <a:lnSpc>
                <a:spcPts val="6253"/>
              </a:lnSpc>
              <a:spcBef>
                <a:spcPct val="0"/>
              </a:spcBef>
            </a:pPr>
            <a:r>
              <a:rPr lang="en-US" sz="4466">
                <a:solidFill>
                  <a:srgbClr val="000000"/>
                </a:solidFill>
                <a:latin typeface="Archivo Narrow"/>
                <a:ea typeface="Archivo Narrow"/>
                <a:cs typeface="Archivo Narrow"/>
                <a:sym typeface="Archivo Narrow"/>
              </a:rPr>
              <a:t>ERICA C. FRIAS</a:t>
            </a:r>
          </a:p>
        </p:txBody>
      </p:sp>
      <p:grpSp>
        <p:nvGrpSpPr>
          <p:cNvPr id="18" name="Group 18"/>
          <p:cNvGrpSpPr/>
          <p:nvPr/>
        </p:nvGrpSpPr>
        <p:grpSpPr>
          <a:xfrm>
            <a:off x="11512800" y="2441435"/>
            <a:ext cx="3317974" cy="3317974"/>
            <a:chOff x="0" y="0"/>
            <a:chExt cx="6350000" cy="6350000"/>
          </a:xfrm>
        </p:grpSpPr>
        <p:sp>
          <p:nvSpPr>
            <p:cNvPr id="19" name="Freeform 19"/>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a:stretch>
            </a:blipFill>
          </p:spPr>
        </p:sp>
      </p:grpSp>
      <p:sp>
        <p:nvSpPr>
          <p:cNvPr id="20" name="TextBox 20"/>
          <p:cNvSpPr txBox="1"/>
          <p:nvPr/>
        </p:nvSpPr>
        <p:spPr>
          <a:xfrm>
            <a:off x="4791036" y="1090029"/>
            <a:ext cx="8858436"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DEPDev - CAR (NEDA - CAR) DIVISIONS</a:t>
            </a:r>
          </a:p>
        </p:txBody>
      </p:sp>
      <p:sp>
        <p:nvSpPr>
          <p:cNvPr id="21" name="TextBox 21"/>
          <p:cNvSpPr txBox="1"/>
          <p:nvPr/>
        </p:nvSpPr>
        <p:spPr>
          <a:xfrm>
            <a:off x="5678777" y="7001652"/>
            <a:ext cx="6790321" cy="882013"/>
          </a:xfrm>
          <a:prstGeom prst="rect">
            <a:avLst/>
          </a:prstGeom>
        </p:spPr>
        <p:txBody>
          <a:bodyPr lIns="0" tIns="0" rIns="0" bIns="0" rtlCol="0" anchor="t">
            <a:spAutoFit/>
          </a:bodyPr>
          <a:lstStyle/>
          <a:p>
            <a:pPr algn="ctr">
              <a:lnSpc>
                <a:spcPts val="7144"/>
              </a:lnSpc>
              <a:spcBef>
                <a:spcPct val="0"/>
              </a:spcBef>
            </a:pPr>
            <a:r>
              <a:rPr lang="en-US" sz="5103" b="1">
                <a:solidFill>
                  <a:srgbClr val="000000"/>
                </a:solidFill>
                <a:latin typeface="Archivo Narrow Bold"/>
                <a:ea typeface="Archivo Narrow Bold"/>
                <a:cs typeface="Archivo Narrow Bold"/>
                <a:sym typeface="Archivo Narrow Bold"/>
              </a:rPr>
              <a:t>SUPPLY UNIT DIVISION</a:t>
            </a:r>
          </a:p>
        </p:txBody>
      </p:sp>
      <p:sp>
        <p:nvSpPr>
          <p:cNvPr id="22" name="TextBox 22"/>
          <p:cNvSpPr txBox="1"/>
          <p:nvPr/>
        </p:nvSpPr>
        <p:spPr>
          <a:xfrm>
            <a:off x="9776626" y="5673684"/>
            <a:ext cx="6790321" cy="760428"/>
          </a:xfrm>
          <a:prstGeom prst="rect">
            <a:avLst/>
          </a:prstGeom>
        </p:spPr>
        <p:txBody>
          <a:bodyPr lIns="0" tIns="0" rIns="0" bIns="0" rtlCol="0" anchor="t">
            <a:spAutoFit/>
          </a:bodyPr>
          <a:lstStyle/>
          <a:p>
            <a:pPr algn="ctr">
              <a:lnSpc>
                <a:spcPts val="6253"/>
              </a:lnSpc>
              <a:spcBef>
                <a:spcPct val="0"/>
              </a:spcBef>
            </a:pPr>
            <a:r>
              <a:rPr lang="en-US" sz="4466">
                <a:solidFill>
                  <a:srgbClr val="000000"/>
                </a:solidFill>
                <a:latin typeface="Archivo Narrow"/>
                <a:ea typeface="Archivo Narrow"/>
                <a:cs typeface="Archivo Narrow"/>
                <a:sym typeface="Archivo Narrow"/>
              </a:rPr>
              <a:t>MACY GRAY AGBUYA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77317" y="2427167"/>
            <a:ext cx="5396448" cy="5432665"/>
          </a:xfrm>
          <a:custGeom>
            <a:avLst/>
            <a:gdLst/>
            <a:ahLst/>
            <a:cxnLst/>
            <a:rect l="l" t="t" r="r" b="b"/>
            <a:pathLst>
              <a:path w="5396448" h="5432665">
                <a:moveTo>
                  <a:pt x="0" y="0"/>
                </a:moveTo>
                <a:lnTo>
                  <a:pt x="5396447" y="0"/>
                </a:lnTo>
                <a:lnTo>
                  <a:pt x="5396447" y="5432666"/>
                </a:lnTo>
                <a:lnTo>
                  <a:pt x="0" y="5432666"/>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grpSp>
        <p:nvGrpSpPr>
          <p:cNvPr id="15" name="Group 15"/>
          <p:cNvGrpSpPr/>
          <p:nvPr/>
        </p:nvGrpSpPr>
        <p:grpSpPr>
          <a:xfrm>
            <a:off x="3609734" y="2441435"/>
            <a:ext cx="3317974" cy="3317974"/>
            <a:chOff x="0" y="0"/>
            <a:chExt cx="6350000" cy="6350000"/>
          </a:xfrm>
        </p:grpSpPr>
        <p:sp>
          <p:nvSpPr>
            <p:cNvPr id="16" name="Freeform 16"/>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5"/>
              <a:stretch>
                <a:fillRect b="-7922"/>
              </a:stretch>
            </a:blipFill>
          </p:spPr>
        </p:sp>
      </p:grpSp>
      <p:sp>
        <p:nvSpPr>
          <p:cNvPr id="17" name="TextBox 17"/>
          <p:cNvSpPr txBox="1"/>
          <p:nvPr/>
        </p:nvSpPr>
        <p:spPr>
          <a:xfrm>
            <a:off x="1873561" y="5673684"/>
            <a:ext cx="6790321" cy="760428"/>
          </a:xfrm>
          <a:prstGeom prst="rect">
            <a:avLst/>
          </a:prstGeom>
        </p:spPr>
        <p:txBody>
          <a:bodyPr lIns="0" tIns="0" rIns="0" bIns="0" rtlCol="0" anchor="t">
            <a:spAutoFit/>
          </a:bodyPr>
          <a:lstStyle/>
          <a:p>
            <a:pPr algn="ctr">
              <a:lnSpc>
                <a:spcPts val="6253"/>
              </a:lnSpc>
              <a:spcBef>
                <a:spcPct val="0"/>
              </a:spcBef>
            </a:pPr>
            <a:r>
              <a:rPr lang="en-US" sz="4466">
                <a:solidFill>
                  <a:srgbClr val="000000"/>
                </a:solidFill>
                <a:latin typeface="Archivo Narrow"/>
                <a:ea typeface="Archivo Narrow"/>
                <a:cs typeface="Archivo Narrow"/>
                <a:sym typeface="Archivo Narrow"/>
              </a:rPr>
              <a:t>TRISHA MAE TORRALBA</a:t>
            </a:r>
          </a:p>
        </p:txBody>
      </p:sp>
      <p:grpSp>
        <p:nvGrpSpPr>
          <p:cNvPr id="18" name="Group 18"/>
          <p:cNvGrpSpPr/>
          <p:nvPr/>
        </p:nvGrpSpPr>
        <p:grpSpPr>
          <a:xfrm>
            <a:off x="11512800" y="2441435"/>
            <a:ext cx="3317974" cy="3317974"/>
            <a:chOff x="0" y="0"/>
            <a:chExt cx="6350000" cy="6350000"/>
          </a:xfrm>
        </p:grpSpPr>
        <p:sp>
          <p:nvSpPr>
            <p:cNvPr id="19" name="Freeform 19"/>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a:stretch>
            </a:blipFill>
          </p:spPr>
        </p:sp>
      </p:grpSp>
      <p:sp>
        <p:nvSpPr>
          <p:cNvPr id="20" name="TextBox 20"/>
          <p:cNvSpPr txBox="1"/>
          <p:nvPr/>
        </p:nvSpPr>
        <p:spPr>
          <a:xfrm>
            <a:off x="4791036" y="1090029"/>
            <a:ext cx="8858436"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DEPDev - CAR (NEDA - CAR) DIVISIONS</a:t>
            </a:r>
          </a:p>
        </p:txBody>
      </p:sp>
      <p:sp>
        <p:nvSpPr>
          <p:cNvPr id="21" name="TextBox 21"/>
          <p:cNvSpPr txBox="1"/>
          <p:nvPr/>
        </p:nvSpPr>
        <p:spPr>
          <a:xfrm>
            <a:off x="5678777" y="7001652"/>
            <a:ext cx="6790321" cy="882013"/>
          </a:xfrm>
          <a:prstGeom prst="rect">
            <a:avLst/>
          </a:prstGeom>
        </p:spPr>
        <p:txBody>
          <a:bodyPr lIns="0" tIns="0" rIns="0" bIns="0" rtlCol="0" anchor="t">
            <a:spAutoFit/>
          </a:bodyPr>
          <a:lstStyle/>
          <a:p>
            <a:pPr algn="ctr">
              <a:lnSpc>
                <a:spcPts val="7144"/>
              </a:lnSpc>
              <a:spcBef>
                <a:spcPct val="0"/>
              </a:spcBef>
            </a:pPr>
            <a:r>
              <a:rPr lang="en-US" sz="5103" b="1">
                <a:solidFill>
                  <a:srgbClr val="000000"/>
                </a:solidFill>
                <a:latin typeface="Archivo Narrow Bold"/>
                <a:ea typeface="Archivo Narrow Bold"/>
                <a:cs typeface="Archivo Narrow Bold"/>
                <a:sym typeface="Archivo Narrow Bold"/>
              </a:rPr>
              <a:t>ORD DIVISION</a:t>
            </a:r>
          </a:p>
        </p:txBody>
      </p:sp>
      <p:sp>
        <p:nvSpPr>
          <p:cNvPr id="22" name="TextBox 22"/>
          <p:cNvSpPr txBox="1"/>
          <p:nvPr/>
        </p:nvSpPr>
        <p:spPr>
          <a:xfrm>
            <a:off x="9776626" y="5673684"/>
            <a:ext cx="6790321" cy="760428"/>
          </a:xfrm>
          <a:prstGeom prst="rect">
            <a:avLst/>
          </a:prstGeom>
        </p:spPr>
        <p:txBody>
          <a:bodyPr lIns="0" tIns="0" rIns="0" bIns="0" rtlCol="0" anchor="t">
            <a:spAutoFit/>
          </a:bodyPr>
          <a:lstStyle/>
          <a:p>
            <a:pPr algn="ctr">
              <a:lnSpc>
                <a:spcPts val="6253"/>
              </a:lnSpc>
              <a:spcBef>
                <a:spcPct val="0"/>
              </a:spcBef>
            </a:pPr>
            <a:r>
              <a:rPr lang="en-US" sz="4466">
                <a:solidFill>
                  <a:srgbClr val="000000"/>
                </a:solidFill>
                <a:latin typeface="Archivo Narrow"/>
                <a:ea typeface="Archivo Narrow"/>
                <a:cs typeface="Archivo Narrow"/>
                <a:sym typeface="Archivo Narrow"/>
              </a:rPr>
              <a:t>REYMAR GALSIM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77317" y="2427167"/>
            <a:ext cx="5396448" cy="5432665"/>
          </a:xfrm>
          <a:custGeom>
            <a:avLst/>
            <a:gdLst/>
            <a:ahLst/>
            <a:cxnLst/>
            <a:rect l="l" t="t" r="r" b="b"/>
            <a:pathLst>
              <a:path w="5396448" h="5432665">
                <a:moveTo>
                  <a:pt x="0" y="0"/>
                </a:moveTo>
                <a:lnTo>
                  <a:pt x="5396447" y="0"/>
                </a:lnTo>
                <a:lnTo>
                  <a:pt x="5396447" y="5432666"/>
                </a:lnTo>
                <a:lnTo>
                  <a:pt x="0" y="5432666"/>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grpSp>
        <p:nvGrpSpPr>
          <p:cNvPr id="15" name="Group 15"/>
          <p:cNvGrpSpPr/>
          <p:nvPr/>
        </p:nvGrpSpPr>
        <p:grpSpPr>
          <a:xfrm>
            <a:off x="3609734" y="2441435"/>
            <a:ext cx="3317974" cy="3317974"/>
            <a:chOff x="0" y="0"/>
            <a:chExt cx="6350000" cy="6350000"/>
          </a:xfrm>
        </p:grpSpPr>
        <p:sp>
          <p:nvSpPr>
            <p:cNvPr id="16" name="Freeform 16"/>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5"/>
              <a:stretch>
                <a:fillRect/>
              </a:stretch>
            </a:blipFill>
          </p:spPr>
        </p:sp>
      </p:grpSp>
      <p:sp>
        <p:nvSpPr>
          <p:cNvPr id="17" name="TextBox 17"/>
          <p:cNvSpPr txBox="1"/>
          <p:nvPr/>
        </p:nvSpPr>
        <p:spPr>
          <a:xfrm>
            <a:off x="1873561" y="5673684"/>
            <a:ext cx="6790321" cy="760428"/>
          </a:xfrm>
          <a:prstGeom prst="rect">
            <a:avLst/>
          </a:prstGeom>
        </p:spPr>
        <p:txBody>
          <a:bodyPr lIns="0" tIns="0" rIns="0" bIns="0" rtlCol="0" anchor="t">
            <a:spAutoFit/>
          </a:bodyPr>
          <a:lstStyle/>
          <a:p>
            <a:pPr algn="ctr">
              <a:lnSpc>
                <a:spcPts val="6253"/>
              </a:lnSpc>
              <a:spcBef>
                <a:spcPct val="0"/>
              </a:spcBef>
            </a:pPr>
            <a:r>
              <a:rPr lang="en-US" sz="4466">
                <a:solidFill>
                  <a:srgbClr val="000000"/>
                </a:solidFill>
                <a:latin typeface="Archivo Narrow"/>
                <a:ea typeface="Archivo Narrow"/>
                <a:cs typeface="Archivo Narrow"/>
                <a:sym typeface="Archivo Narrow"/>
              </a:rPr>
              <a:t>MARIA FHE ROSARIO</a:t>
            </a:r>
          </a:p>
        </p:txBody>
      </p:sp>
      <p:grpSp>
        <p:nvGrpSpPr>
          <p:cNvPr id="18" name="Group 18"/>
          <p:cNvGrpSpPr/>
          <p:nvPr/>
        </p:nvGrpSpPr>
        <p:grpSpPr>
          <a:xfrm>
            <a:off x="11512800" y="2441435"/>
            <a:ext cx="3317974" cy="3317974"/>
            <a:chOff x="0" y="0"/>
            <a:chExt cx="6350000" cy="6350000"/>
          </a:xfrm>
        </p:grpSpPr>
        <p:sp>
          <p:nvSpPr>
            <p:cNvPr id="19" name="Freeform 19"/>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t="-5771" b="-22800"/>
              </a:stretch>
            </a:blipFill>
          </p:spPr>
        </p:sp>
      </p:grpSp>
      <p:sp>
        <p:nvSpPr>
          <p:cNvPr id="20" name="TextBox 20"/>
          <p:cNvSpPr txBox="1"/>
          <p:nvPr/>
        </p:nvSpPr>
        <p:spPr>
          <a:xfrm>
            <a:off x="4791036" y="1090029"/>
            <a:ext cx="8858436"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DEPDev - CAR (NEDA - CAR) DIVISIONS</a:t>
            </a:r>
          </a:p>
        </p:txBody>
      </p:sp>
      <p:sp>
        <p:nvSpPr>
          <p:cNvPr id="21" name="TextBox 21"/>
          <p:cNvSpPr txBox="1"/>
          <p:nvPr/>
        </p:nvSpPr>
        <p:spPr>
          <a:xfrm>
            <a:off x="5678777" y="7001652"/>
            <a:ext cx="6790321" cy="882013"/>
          </a:xfrm>
          <a:prstGeom prst="rect">
            <a:avLst/>
          </a:prstGeom>
        </p:spPr>
        <p:txBody>
          <a:bodyPr lIns="0" tIns="0" rIns="0" bIns="0" rtlCol="0" anchor="t">
            <a:spAutoFit/>
          </a:bodyPr>
          <a:lstStyle/>
          <a:p>
            <a:pPr algn="ctr">
              <a:lnSpc>
                <a:spcPts val="7144"/>
              </a:lnSpc>
              <a:spcBef>
                <a:spcPct val="0"/>
              </a:spcBef>
            </a:pPr>
            <a:r>
              <a:rPr lang="en-US" sz="5103" b="1">
                <a:solidFill>
                  <a:srgbClr val="000000"/>
                </a:solidFill>
                <a:latin typeface="Archivo Narrow Bold"/>
                <a:ea typeface="Archivo Narrow Bold"/>
                <a:cs typeface="Archivo Narrow Bold"/>
                <a:sym typeface="Archivo Narrow Bold"/>
              </a:rPr>
              <a:t>PLANNING DIVISION</a:t>
            </a:r>
          </a:p>
        </p:txBody>
      </p:sp>
      <p:sp>
        <p:nvSpPr>
          <p:cNvPr id="22" name="TextBox 22"/>
          <p:cNvSpPr txBox="1"/>
          <p:nvPr/>
        </p:nvSpPr>
        <p:spPr>
          <a:xfrm>
            <a:off x="9776626" y="5673684"/>
            <a:ext cx="6790321" cy="760428"/>
          </a:xfrm>
          <a:prstGeom prst="rect">
            <a:avLst/>
          </a:prstGeom>
        </p:spPr>
        <p:txBody>
          <a:bodyPr lIns="0" tIns="0" rIns="0" bIns="0" rtlCol="0" anchor="t">
            <a:spAutoFit/>
          </a:bodyPr>
          <a:lstStyle/>
          <a:p>
            <a:pPr algn="ctr">
              <a:lnSpc>
                <a:spcPts val="6253"/>
              </a:lnSpc>
              <a:spcBef>
                <a:spcPct val="0"/>
              </a:spcBef>
            </a:pPr>
            <a:r>
              <a:rPr lang="en-US" sz="4466">
                <a:solidFill>
                  <a:srgbClr val="000000"/>
                </a:solidFill>
                <a:latin typeface="Archivo Narrow"/>
                <a:ea typeface="Archivo Narrow"/>
                <a:cs typeface="Archivo Narrow"/>
                <a:sym typeface="Archivo Narrow"/>
              </a:rPr>
              <a:t>JOSHUA E. TAMONDONG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77317" y="2427167"/>
            <a:ext cx="5396448" cy="5432665"/>
          </a:xfrm>
          <a:custGeom>
            <a:avLst/>
            <a:gdLst/>
            <a:ahLst/>
            <a:cxnLst/>
            <a:rect l="l" t="t" r="r" b="b"/>
            <a:pathLst>
              <a:path w="5396448" h="5432665">
                <a:moveTo>
                  <a:pt x="0" y="0"/>
                </a:moveTo>
                <a:lnTo>
                  <a:pt x="5396447" y="0"/>
                </a:lnTo>
                <a:lnTo>
                  <a:pt x="5396447" y="5432666"/>
                </a:lnTo>
                <a:lnTo>
                  <a:pt x="0" y="5432666"/>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sp>
        <p:nvSpPr>
          <p:cNvPr id="15" name="TextBox 15"/>
          <p:cNvSpPr txBox="1"/>
          <p:nvPr/>
        </p:nvSpPr>
        <p:spPr>
          <a:xfrm>
            <a:off x="5961232" y="6297658"/>
            <a:ext cx="6518044" cy="742899"/>
          </a:xfrm>
          <a:prstGeom prst="rect">
            <a:avLst/>
          </a:prstGeom>
        </p:spPr>
        <p:txBody>
          <a:bodyPr lIns="0" tIns="0" rIns="0" bIns="0" rtlCol="0" anchor="t">
            <a:spAutoFit/>
          </a:bodyPr>
          <a:lstStyle/>
          <a:p>
            <a:pPr algn="ctr">
              <a:lnSpc>
                <a:spcPts val="6002"/>
              </a:lnSpc>
              <a:spcBef>
                <a:spcPct val="0"/>
              </a:spcBef>
            </a:pPr>
            <a:r>
              <a:rPr lang="en-US" sz="4287">
                <a:solidFill>
                  <a:srgbClr val="000000"/>
                </a:solidFill>
                <a:latin typeface="Archivo Narrow"/>
                <a:ea typeface="Archivo Narrow"/>
                <a:cs typeface="Archivo Narrow"/>
                <a:sym typeface="Archivo Narrow"/>
              </a:rPr>
              <a:t>DANZEL REIGE B. PEREZ</a:t>
            </a:r>
          </a:p>
        </p:txBody>
      </p:sp>
      <p:grpSp>
        <p:nvGrpSpPr>
          <p:cNvPr id="16" name="Group 16"/>
          <p:cNvGrpSpPr/>
          <p:nvPr/>
        </p:nvGrpSpPr>
        <p:grpSpPr>
          <a:xfrm>
            <a:off x="7627789" y="3207977"/>
            <a:ext cx="3184930" cy="3184930"/>
            <a:chOff x="0" y="0"/>
            <a:chExt cx="6350000" cy="6350000"/>
          </a:xfrm>
        </p:grpSpPr>
        <p:sp>
          <p:nvSpPr>
            <p:cNvPr id="17" name="Freeform 17"/>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5"/>
              <a:stretch>
                <a:fillRect/>
              </a:stretch>
            </a:blipFill>
          </p:spPr>
        </p:sp>
      </p:grpSp>
      <p:sp>
        <p:nvSpPr>
          <p:cNvPr id="18" name="TextBox 18"/>
          <p:cNvSpPr txBox="1"/>
          <p:nvPr/>
        </p:nvSpPr>
        <p:spPr>
          <a:xfrm>
            <a:off x="4791036" y="1090029"/>
            <a:ext cx="8858436"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DEPDev - CAR (NEDA - CAR) DIVISIONS</a:t>
            </a:r>
          </a:p>
        </p:txBody>
      </p:sp>
      <p:sp>
        <p:nvSpPr>
          <p:cNvPr id="19" name="TextBox 19"/>
          <p:cNvSpPr txBox="1"/>
          <p:nvPr/>
        </p:nvSpPr>
        <p:spPr>
          <a:xfrm>
            <a:off x="5961232" y="7236289"/>
            <a:ext cx="6518044" cy="832139"/>
          </a:xfrm>
          <a:prstGeom prst="rect">
            <a:avLst/>
          </a:prstGeom>
        </p:spPr>
        <p:txBody>
          <a:bodyPr lIns="0" tIns="0" rIns="0" bIns="0" rtlCol="0" anchor="t">
            <a:spAutoFit/>
          </a:bodyPr>
          <a:lstStyle/>
          <a:p>
            <a:pPr algn="ctr">
              <a:lnSpc>
                <a:spcPts val="6860"/>
              </a:lnSpc>
              <a:spcBef>
                <a:spcPct val="0"/>
              </a:spcBef>
            </a:pPr>
            <a:r>
              <a:rPr lang="en-US" sz="4900" b="1">
                <a:solidFill>
                  <a:srgbClr val="000000"/>
                </a:solidFill>
                <a:latin typeface="Archivo Narrow Bold"/>
                <a:ea typeface="Archivo Narrow Bold"/>
                <a:cs typeface="Archivo Narrow Bold"/>
                <a:sym typeface="Archivo Narrow Bold"/>
              </a:rPr>
              <a:t>HR DIVISION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77317" y="2427167"/>
            <a:ext cx="5396448" cy="5432665"/>
          </a:xfrm>
          <a:custGeom>
            <a:avLst/>
            <a:gdLst/>
            <a:ahLst/>
            <a:cxnLst/>
            <a:rect l="l" t="t" r="r" b="b"/>
            <a:pathLst>
              <a:path w="5396448" h="5432665">
                <a:moveTo>
                  <a:pt x="0" y="0"/>
                </a:moveTo>
                <a:lnTo>
                  <a:pt x="5396447" y="0"/>
                </a:lnTo>
                <a:lnTo>
                  <a:pt x="5396447" y="5432666"/>
                </a:lnTo>
                <a:lnTo>
                  <a:pt x="0" y="5432666"/>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sp>
        <p:nvSpPr>
          <p:cNvPr id="15" name="TextBox 15"/>
          <p:cNvSpPr txBox="1"/>
          <p:nvPr/>
        </p:nvSpPr>
        <p:spPr>
          <a:xfrm>
            <a:off x="5961232" y="6297658"/>
            <a:ext cx="6518044" cy="742899"/>
          </a:xfrm>
          <a:prstGeom prst="rect">
            <a:avLst/>
          </a:prstGeom>
        </p:spPr>
        <p:txBody>
          <a:bodyPr lIns="0" tIns="0" rIns="0" bIns="0" rtlCol="0" anchor="t">
            <a:spAutoFit/>
          </a:bodyPr>
          <a:lstStyle/>
          <a:p>
            <a:pPr algn="ctr">
              <a:lnSpc>
                <a:spcPts val="6002"/>
              </a:lnSpc>
              <a:spcBef>
                <a:spcPct val="0"/>
              </a:spcBef>
            </a:pPr>
            <a:r>
              <a:rPr lang="en-US" sz="4287">
                <a:solidFill>
                  <a:srgbClr val="000000"/>
                </a:solidFill>
                <a:latin typeface="Archivo Narrow"/>
                <a:ea typeface="Archivo Narrow"/>
                <a:cs typeface="Archivo Narrow"/>
                <a:sym typeface="Archivo Narrow"/>
              </a:rPr>
              <a:t>AARON KING C. ABALOS</a:t>
            </a:r>
          </a:p>
        </p:txBody>
      </p:sp>
      <p:grpSp>
        <p:nvGrpSpPr>
          <p:cNvPr id="16" name="Group 16"/>
          <p:cNvGrpSpPr/>
          <p:nvPr/>
        </p:nvGrpSpPr>
        <p:grpSpPr>
          <a:xfrm>
            <a:off x="7627789" y="3207977"/>
            <a:ext cx="3184930" cy="3184930"/>
            <a:chOff x="0" y="0"/>
            <a:chExt cx="6350000" cy="6350000"/>
          </a:xfrm>
        </p:grpSpPr>
        <p:sp>
          <p:nvSpPr>
            <p:cNvPr id="17" name="Freeform 17"/>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5"/>
              <a:stretch>
                <a:fillRect/>
              </a:stretch>
            </a:blipFill>
          </p:spPr>
        </p:sp>
      </p:grpSp>
      <p:sp>
        <p:nvSpPr>
          <p:cNvPr id="18" name="TextBox 18"/>
          <p:cNvSpPr txBox="1"/>
          <p:nvPr/>
        </p:nvSpPr>
        <p:spPr>
          <a:xfrm>
            <a:off x="4791036" y="1090029"/>
            <a:ext cx="8858436"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DEPDev - CAR (NEDA - CAR) DIVISIONS</a:t>
            </a:r>
          </a:p>
        </p:txBody>
      </p:sp>
      <p:sp>
        <p:nvSpPr>
          <p:cNvPr id="19" name="TextBox 19"/>
          <p:cNvSpPr txBox="1"/>
          <p:nvPr/>
        </p:nvSpPr>
        <p:spPr>
          <a:xfrm>
            <a:off x="5961232" y="7236289"/>
            <a:ext cx="6518044" cy="832139"/>
          </a:xfrm>
          <a:prstGeom prst="rect">
            <a:avLst/>
          </a:prstGeom>
        </p:spPr>
        <p:txBody>
          <a:bodyPr lIns="0" tIns="0" rIns="0" bIns="0" rtlCol="0" anchor="t">
            <a:spAutoFit/>
          </a:bodyPr>
          <a:lstStyle/>
          <a:p>
            <a:pPr algn="ctr">
              <a:lnSpc>
                <a:spcPts val="6860"/>
              </a:lnSpc>
              <a:spcBef>
                <a:spcPct val="0"/>
              </a:spcBef>
            </a:pPr>
            <a:r>
              <a:rPr lang="en-US" sz="4900" b="1">
                <a:solidFill>
                  <a:srgbClr val="000000"/>
                </a:solidFill>
                <a:latin typeface="Archivo Narrow Bold"/>
                <a:ea typeface="Archivo Narrow Bold"/>
                <a:cs typeface="Archivo Narrow Bold"/>
                <a:sym typeface="Archivo Narrow Bold"/>
              </a:rPr>
              <a:t>PHYSICAL UNIT DIVISION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77317" y="2427167"/>
            <a:ext cx="5396448" cy="5432665"/>
          </a:xfrm>
          <a:custGeom>
            <a:avLst/>
            <a:gdLst/>
            <a:ahLst/>
            <a:cxnLst/>
            <a:rect l="l" t="t" r="r" b="b"/>
            <a:pathLst>
              <a:path w="5396448" h="5432665">
                <a:moveTo>
                  <a:pt x="0" y="0"/>
                </a:moveTo>
                <a:lnTo>
                  <a:pt x="5396447" y="0"/>
                </a:lnTo>
                <a:lnTo>
                  <a:pt x="5396447" y="5432666"/>
                </a:lnTo>
                <a:lnTo>
                  <a:pt x="0" y="5432666"/>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sp>
        <p:nvSpPr>
          <p:cNvPr id="15" name="TextBox 15"/>
          <p:cNvSpPr txBox="1"/>
          <p:nvPr/>
        </p:nvSpPr>
        <p:spPr>
          <a:xfrm>
            <a:off x="5961232" y="6297658"/>
            <a:ext cx="6518044" cy="742899"/>
          </a:xfrm>
          <a:prstGeom prst="rect">
            <a:avLst/>
          </a:prstGeom>
        </p:spPr>
        <p:txBody>
          <a:bodyPr lIns="0" tIns="0" rIns="0" bIns="0" rtlCol="0" anchor="t">
            <a:spAutoFit/>
          </a:bodyPr>
          <a:lstStyle/>
          <a:p>
            <a:pPr algn="ctr">
              <a:lnSpc>
                <a:spcPts val="6002"/>
              </a:lnSpc>
              <a:spcBef>
                <a:spcPct val="0"/>
              </a:spcBef>
            </a:pPr>
            <a:r>
              <a:rPr lang="en-US" sz="4287">
                <a:solidFill>
                  <a:srgbClr val="000000"/>
                </a:solidFill>
                <a:latin typeface="Archivo Narrow"/>
                <a:ea typeface="Archivo Narrow"/>
                <a:cs typeface="Archivo Narrow"/>
                <a:sym typeface="Archivo Narrow"/>
              </a:rPr>
              <a:t>IAN JAY P. MACARAEG</a:t>
            </a:r>
          </a:p>
        </p:txBody>
      </p:sp>
      <p:grpSp>
        <p:nvGrpSpPr>
          <p:cNvPr id="16" name="Group 16"/>
          <p:cNvGrpSpPr/>
          <p:nvPr/>
        </p:nvGrpSpPr>
        <p:grpSpPr>
          <a:xfrm>
            <a:off x="7627789" y="3207977"/>
            <a:ext cx="3184930" cy="3184930"/>
            <a:chOff x="0" y="0"/>
            <a:chExt cx="6350000" cy="6350000"/>
          </a:xfrm>
        </p:grpSpPr>
        <p:sp>
          <p:nvSpPr>
            <p:cNvPr id="17" name="Freeform 17"/>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5"/>
              <a:stretch>
                <a:fillRect/>
              </a:stretch>
            </a:blipFill>
          </p:spPr>
        </p:sp>
      </p:grpSp>
      <p:sp>
        <p:nvSpPr>
          <p:cNvPr id="18" name="TextBox 18"/>
          <p:cNvSpPr txBox="1"/>
          <p:nvPr/>
        </p:nvSpPr>
        <p:spPr>
          <a:xfrm>
            <a:off x="4791036" y="1090029"/>
            <a:ext cx="8858436" cy="794725"/>
          </a:xfrm>
          <a:prstGeom prst="rect">
            <a:avLst/>
          </a:prstGeom>
        </p:spPr>
        <p:txBody>
          <a:bodyPr lIns="0" tIns="0" rIns="0" bIns="0" rtlCol="0" anchor="t">
            <a:spAutoFit/>
          </a:bodyPr>
          <a:lstStyle/>
          <a:p>
            <a:pPr algn="l">
              <a:lnSpc>
                <a:spcPts val="6592"/>
              </a:lnSpc>
              <a:spcBef>
                <a:spcPct val="0"/>
              </a:spcBef>
            </a:pPr>
            <a:r>
              <a:rPr lang="en-US" sz="4708">
                <a:solidFill>
                  <a:srgbClr val="000000"/>
                </a:solidFill>
                <a:latin typeface="Norwester"/>
                <a:ea typeface="Norwester"/>
                <a:cs typeface="Norwester"/>
                <a:sym typeface="Norwester"/>
              </a:rPr>
              <a:t>DEPDev - CAR (NEDA - CAR) DIVISIONS</a:t>
            </a:r>
          </a:p>
        </p:txBody>
      </p:sp>
      <p:sp>
        <p:nvSpPr>
          <p:cNvPr id="19" name="TextBox 19"/>
          <p:cNvSpPr txBox="1"/>
          <p:nvPr/>
        </p:nvSpPr>
        <p:spPr>
          <a:xfrm>
            <a:off x="5961232" y="7236289"/>
            <a:ext cx="6518044" cy="832139"/>
          </a:xfrm>
          <a:prstGeom prst="rect">
            <a:avLst/>
          </a:prstGeom>
        </p:spPr>
        <p:txBody>
          <a:bodyPr lIns="0" tIns="0" rIns="0" bIns="0" rtlCol="0" anchor="t">
            <a:spAutoFit/>
          </a:bodyPr>
          <a:lstStyle/>
          <a:p>
            <a:pPr algn="ctr">
              <a:lnSpc>
                <a:spcPts val="6860"/>
              </a:lnSpc>
              <a:spcBef>
                <a:spcPct val="0"/>
              </a:spcBef>
            </a:pPr>
            <a:r>
              <a:rPr lang="en-US" sz="4900" b="1">
                <a:solidFill>
                  <a:srgbClr val="000000"/>
                </a:solidFill>
                <a:latin typeface="Archivo Narrow Bold"/>
                <a:ea typeface="Archivo Narrow Bold"/>
                <a:cs typeface="Archivo Narrow Bold"/>
                <a:sym typeface="Archivo Narrow Bold"/>
              </a:rPr>
              <a:t>SPCAR DIVISION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77317" y="2427167"/>
            <a:ext cx="5396448" cy="5432665"/>
          </a:xfrm>
          <a:custGeom>
            <a:avLst/>
            <a:gdLst/>
            <a:ahLst/>
            <a:cxnLst/>
            <a:rect l="l" t="t" r="r" b="b"/>
            <a:pathLst>
              <a:path w="5396448" h="5432665">
                <a:moveTo>
                  <a:pt x="0" y="0"/>
                </a:moveTo>
                <a:lnTo>
                  <a:pt x="5396447" y="0"/>
                </a:lnTo>
                <a:lnTo>
                  <a:pt x="5396447" y="5432666"/>
                </a:lnTo>
                <a:lnTo>
                  <a:pt x="0" y="5432666"/>
                </a:lnTo>
                <a:lnTo>
                  <a:pt x="0" y="0"/>
                </a:lnTo>
                <a:close/>
              </a:path>
            </a:pathLst>
          </a:custGeom>
          <a:blipFill>
            <a:blip r:embed="rId2">
              <a:alphaModFix amt="80000"/>
            </a:blip>
            <a:stretch>
              <a:fillRect/>
            </a:stretch>
          </a:blipFill>
        </p:spPr>
      </p:sp>
      <p:grpSp>
        <p:nvGrpSpPr>
          <p:cNvPr id="3" name="Group 3"/>
          <p:cNvGrpSpPr/>
          <p:nvPr/>
        </p:nvGrpSpPr>
        <p:grpSpPr>
          <a:xfrm>
            <a:off x="0" y="0"/>
            <a:ext cx="18351081" cy="10287000"/>
            <a:chOff x="0" y="0"/>
            <a:chExt cx="4833207" cy="2709333"/>
          </a:xfrm>
        </p:grpSpPr>
        <p:sp>
          <p:nvSpPr>
            <p:cNvPr id="4" name="Freeform 4"/>
            <p:cNvSpPr/>
            <p:nvPr/>
          </p:nvSpPr>
          <p:spPr>
            <a:xfrm>
              <a:off x="0" y="0"/>
              <a:ext cx="4833207" cy="2709333"/>
            </a:xfrm>
            <a:custGeom>
              <a:avLst/>
              <a:gdLst/>
              <a:ahLst/>
              <a:cxnLst/>
              <a:rect l="l" t="t" r="r" b="b"/>
              <a:pathLst>
                <a:path w="4833207" h="2709333">
                  <a:moveTo>
                    <a:pt x="0" y="0"/>
                  </a:moveTo>
                  <a:lnTo>
                    <a:pt x="4833207" y="0"/>
                  </a:lnTo>
                  <a:lnTo>
                    <a:pt x="4833207" y="2709333"/>
                  </a:lnTo>
                  <a:lnTo>
                    <a:pt x="0" y="2709333"/>
                  </a:lnTo>
                  <a:close/>
                </a:path>
              </a:pathLst>
            </a:custGeom>
            <a:gradFill rotWithShape="1">
              <a:gsLst>
                <a:gs pos="0">
                  <a:srgbClr val="CDFFD8">
                    <a:alpha val="46000"/>
                  </a:srgbClr>
                </a:gs>
                <a:gs pos="50000">
                  <a:srgbClr val="FFE194">
                    <a:alpha val="46000"/>
                  </a:srgbClr>
                </a:gs>
                <a:gs pos="100000">
                  <a:srgbClr val="94B9FF">
                    <a:alpha val="46000"/>
                  </a:srgbClr>
                </a:gs>
              </a:gsLst>
              <a:lin ang="2700000"/>
            </a:gradFill>
            <a:ln cap="sq">
              <a:noFill/>
              <a:prstDash val="solid"/>
              <a:miter/>
            </a:ln>
          </p:spPr>
        </p:sp>
        <p:sp>
          <p:nvSpPr>
            <p:cNvPr id="5" name="TextBox 5"/>
            <p:cNvSpPr txBox="1"/>
            <p:nvPr/>
          </p:nvSpPr>
          <p:spPr>
            <a:xfrm>
              <a:off x="0" y="-38100"/>
              <a:ext cx="4833207"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a:stretch>
          </a:blipFill>
        </p:spPr>
      </p:sp>
      <p:grpSp>
        <p:nvGrpSpPr>
          <p:cNvPr id="7" name="Group 7"/>
          <p:cNvGrpSpPr/>
          <p:nvPr/>
        </p:nvGrpSpPr>
        <p:grpSpPr>
          <a:xfrm>
            <a:off x="-1948325" y="9391650"/>
            <a:ext cx="23288625" cy="1263015"/>
            <a:chOff x="0" y="0"/>
            <a:chExt cx="31051500" cy="1684020"/>
          </a:xfrm>
        </p:grpSpPr>
        <p:sp>
          <p:nvSpPr>
            <p:cNvPr id="8" name="Freeform 8"/>
            <p:cNvSpPr/>
            <p:nvPr/>
          </p:nvSpPr>
          <p:spPr>
            <a:xfrm flipV="1">
              <a:off x="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9" name="Freeform 9"/>
            <p:cNvSpPr/>
            <p:nvPr/>
          </p:nvSpPr>
          <p:spPr>
            <a:xfrm flipV="1">
              <a:off x="103251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sp>
          <p:nvSpPr>
            <p:cNvPr id="10" name="Freeform 10"/>
            <p:cNvSpPr/>
            <p:nvPr/>
          </p:nvSpPr>
          <p:spPr>
            <a:xfrm flipV="1">
              <a:off x="20688300" y="0"/>
              <a:ext cx="10363200" cy="1684020"/>
            </a:xfrm>
            <a:custGeom>
              <a:avLst/>
              <a:gdLst/>
              <a:ahLst/>
              <a:cxnLst/>
              <a:rect l="l" t="t" r="r" b="b"/>
              <a:pathLst>
                <a:path w="10363200" h="1684020">
                  <a:moveTo>
                    <a:pt x="0" y="1684020"/>
                  </a:moveTo>
                  <a:lnTo>
                    <a:pt x="10363200" y="1684020"/>
                  </a:lnTo>
                  <a:lnTo>
                    <a:pt x="10363200" y="0"/>
                  </a:lnTo>
                  <a:lnTo>
                    <a:pt x="0" y="0"/>
                  </a:lnTo>
                  <a:lnTo>
                    <a:pt x="0" y="1684020"/>
                  </a:lnTo>
                  <a:close/>
                </a:path>
              </a:pathLst>
            </a:custGeom>
            <a:blipFill>
              <a:blip r:embed="rId4"/>
              <a:stretch>
                <a:fillRect/>
              </a:stretch>
            </a:blipFill>
          </p:spPr>
        </p:sp>
      </p:grpSp>
      <p:grpSp>
        <p:nvGrpSpPr>
          <p:cNvPr id="11" name="Group 11"/>
          <p:cNvGrpSpPr/>
          <p:nvPr/>
        </p:nvGrpSpPr>
        <p:grpSpPr>
          <a:xfrm>
            <a:off x="-2500312" y="-329565"/>
            <a:ext cx="23288625" cy="1263015"/>
            <a:chOff x="0" y="0"/>
            <a:chExt cx="31051500" cy="1684020"/>
          </a:xfrm>
        </p:grpSpPr>
        <p:sp>
          <p:nvSpPr>
            <p:cNvPr id="12" name="Freeform 12"/>
            <p:cNvSpPr/>
            <p:nvPr/>
          </p:nvSpPr>
          <p:spPr>
            <a:xfrm>
              <a:off x="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3" name="Freeform 13"/>
            <p:cNvSpPr/>
            <p:nvPr/>
          </p:nvSpPr>
          <p:spPr>
            <a:xfrm>
              <a:off x="103251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sp>
          <p:nvSpPr>
            <p:cNvPr id="14" name="Freeform 14"/>
            <p:cNvSpPr/>
            <p:nvPr/>
          </p:nvSpPr>
          <p:spPr>
            <a:xfrm>
              <a:off x="20688300" y="0"/>
              <a:ext cx="10363200" cy="1684020"/>
            </a:xfrm>
            <a:custGeom>
              <a:avLst/>
              <a:gdLst/>
              <a:ahLst/>
              <a:cxnLst/>
              <a:rect l="l" t="t" r="r" b="b"/>
              <a:pathLst>
                <a:path w="10363200" h="1684020">
                  <a:moveTo>
                    <a:pt x="0" y="0"/>
                  </a:moveTo>
                  <a:lnTo>
                    <a:pt x="10363200" y="0"/>
                  </a:lnTo>
                  <a:lnTo>
                    <a:pt x="10363200" y="1684020"/>
                  </a:lnTo>
                  <a:lnTo>
                    <a:pt x="0" y="1684020"/>
                  </a:lnTo>
                  <a:lnTo>
                    <a:pt x="0" y="0"/>
                  </a:lnTo>
                  <a:close/>
                </a:path>
              </a:pathLst>
            </a:custGeom>
            <a:blipFill>
              <a:blip r:embed="rId4"/>
              <a:stretch>
                <a:fillRect/>
              </a:stretch>
            </a:blipFill>
          </p:spPr>
        </p:sp>
      </p:grpSp>
      <p:grpSp>
        <p:nvGrpSpPr>
          <p:cNvPr id="15" name="Group 15"/>
          <p:cNvGrpSpPr/>
          <p:nvPr/>
        </p:nvGrpSpPr>
        <p:grpSpPr>
          <a:xfrm>
            <a:off x="477689" y="2586603"/>
            <a:ext cx="7899752" cy="4144210"/>
            <a:chOff x="0" y="0"/>
            <a:chExt cx="6350000" cy="3331210"/>
          </a:xfrm>
        </p:grpSpPr>
        <p:sp>
          <p:nvSpPr>
            <p:cNvPr id="16" name="Freeform 16"/>
            <p:cNvSpPr/>
            <p:nvPr/>
          </p:nvSpPr>
          <p:spPr>
            <a:xfrm>
              <a:off x="0" y="0"/>
              <a:ext cx="6350000" cy="3331210"/>
            </a:xfrm>
            <a:custGeom>
              <a:avLst/>
              <a:gdLst/>
              <a:ahLst/>
              <a:cxnLst/>
              <a:rect l="l" t="t" r="r" b="b"/>
              <a:pathLst>
                <a:path w="6350000" h="3331210">
                  <a:moveTo>
                    <a:pt x="6209030" y="0"/>
                  </a:moveTo>
                  <a:lnTo>
                    <a:pt x="140970" y="0"/>
                  </a:lnTo>
                  <a:cubicBezTo>
                    <a:pt x="63500" y="0"/>
                    <a:pt x="0" y="62230"/>
                    <a:pt x="0" y="138430"/>
                  </a:cubicBezTo>
                  <a:lnTo>
                    <a:pt x="0" y="3192780"/>
                  </a:lnTo>
                  <a:cubicBezTo>
                    <a:pt x="0" y="3268980"/>
                    <a:pt x="63500" y="3331210"/>
                    <a:pt x="140970" y="3331210"/>
                  </a:cubicBezTo>
                  <a:lnTo>
                    <a:pt x="6209030" y="3331210"/>
                  </a:lnTo>
                  <a:cubicBezTo>
                    <a:pt x="6286500" y="3331210"/>
                    <a:pt x="6350000" y="3268980"/>
                    <a:pt x="6350000" y="3192780"/>
                  </a:cubicBezTo>
                  <a:lnTo>
                    <a:pt x="6350000" y="138430"/>
                  </a:lnTo>
                  <a:cubicBezTo>
                    <a:pt x="6350000" y="62230"/>
                    <a:pt x="6286500" y="0"/>
                    <a:pt x="6209030" y="0"/>
                  </a:cubicBezTo>
                  <a:close/>
                </a:path>
              </a:pathLst>
            </a:custGeom>
            <a:blipFill>
              <a:blip r:embed="rId5"/>
              <a:stretch>
                <a:fillRect t="-21483" b="-21483"/>
              </a:stretch>
            </a:blipFill>
          </p:spPr>
        </p:sp>
      </p:grpSp>
      <p:grpSp>
        <p:nvGrpSpPr>
          <p:cNvPr id="17" name="Group 17"/>
          <p:cNvGrpSpPr/>
          <p:nvPr/>
        </p:nvGrpSpPr>
        <p:grpSpPr>
          <a:xfrm>
            <a:off x="9973640" y="2586603"/>
            <a:ext cx="7899752" cy="4144210"/>
            <a:chOff x="0" y="0"/>
            <a:chExt cx="6350000" cy="3331210"/>
          </a:xfrm>
        </p:grpSpPr>
        <p:sp>
          <p:nvSpPr>
            <p:cNvPr id="18" name="Freeform 18"/>
            <p:cNvSpPr/>
            <p:nvPr/>
          </p:nvSpPr>
          <p:spPr>
            <a:xfrm>
              <a:off x="0" y="0"/>
              <a:ext cx="6350000" cy="3331210"/>
            </a:xfrm>
            <a:custGeom>
              <a:avLst/>
              <a:gdLst/>
              <a:ahLst/>
              <a:cxnLst/>
              <a:rect l="l" t="t" r="r" b="b"/>
              <a:pathLst>
                <a:path w="6350000" h="3331210">
                  <a:moveTo>
                    <a:pt x="6209030" y="0"/>
                  </a:moveTo>
                  <a:lnTo>
                    <a:pt x="140970" y="0"/>
                  </a:lnTo>
                  <a:cubicBezTo>
                    <a:pt x="63500" y="0"/>
                    <a:pt x="0" y="62230"/>
                    <a:pt x="0" y="138430"/>
                  </a:cubicBezTo>
                  <a:lnTo>
                    <a:pt x="0" y="3192780"/>
                  </a:lnTo>
                  <a:cubicBezTo>
                    <a:pt x="0" y="3268980"/>
                    <a:pt x="63500" y="3331210"/>
                    <a:pt x="140970" y="3331210"/>
                  </a:cubicBezTo>
                  <a:lnTo>
                    <a:pt x="6209030" y="3331210"/>
                  </a:lnTo>
                  <a:cubicBezTo>
                    <a:pt x="6286500" y="3331210"/>
                    <a:pt x="6350000" y="3268980"/>
                    <a:pt x="6350000" y="3192780"/>
                  </a:cubicBezTo>
                  <a:lnTo>
                    <a:pt x="6350000" y="138430"/>
                  </a:lnTo>
                  <a:cubicBezTo>
                    <a:pt x="6350000" y="62230"/>
                    <a:pt x="6286500" y="0"/>
                    <a:pt x="6209030" y="0"/>
                  </a:cubicBezTo>
                  <a:close/>
                </a:path>
              </a:pathLst>
            </a:custGeom>
            <a:blipFill>
              <a:blip r:embed="rId6"/>
              <a:stretch>
                <a:fillRect t="-3612" b="-3612"/>
              </a:stretch>
            </a:blipFill>
          </p:spPr>
        </p:sp>
      </p:grpSp>
      <p:grpSp>
        <p:nvGrpSpPr>
          <p:cNvPr id="19" name="Group 19"/>
          <p:cNvGrpSpPr/>
          <p:nvPr/>
        </p:nvGrpSpPr>
        <p:grpSpPr>
          <a:xfrm>
            <a:off x="415536" y="7158952"/>
            <a:ext cx="4604177" cy="1804558"/>
            <a:chOff x="0" y="0"/>
            <a:chExt cx="1555343" cy="609600"/>
          </a:xfrm>
        </p:grpSpPr>
        <p:sp>
          <p:nvSpPr>
            <p:cNvPr id="20" name="Freeform 20"/>
            <p:cNvSpPr/>
            <p:nvPr/>
          </p:nvSpPr>
          <p:spPr>
            <a:xfrm>
              <a:off x="0" y="0"/>
              <a:ext cx="1555343" cy="609600"/>
            </a:xfrm>
            <a:custGeom>
              <a:avLst/>
              <a:gdLst/>
              <a:ahLst/>
              <a:cxnLst/>
              <a:rect l="l" t="t" r="r" b="b"/>
              <a:pathLst>
                <a:path w="1555343" h="609600">
                  <a:moveTo>
                    <a:pt x="203200" y="0"/>
                  </a:moveTo>
                  <a:lnTo>
                    <a:pt x="1555343" y="0"/>
                  </a:lnTo>
                  <a:lnTo>
                    <a:pt x="1352143" y="609600"/>
                  </a:lnTo>
                  <a:lnTo>
                    <a:pt x="0" y="609600"/>
                  </a:lnTo>
                  <a:lnTo>
                    <a:pt x="203200" y="0"/>
                  </a:lnTo>
                  <a:close/>
                </a:path>
              </a:pathLst>
            </a:custGeom>
            <a:blipFill>
              <a:blip r:embed="rId7">
                <a:alphaModFix amt="90000"/>
              </a:blip>
              <a:stretch>
                <a:fillRect t="-82634" b="-82634"/>
              </a:stretch>
            </a:blipFill>
          </p:spPr>
        </p:sp>
      </p:grpSp>
      <p:grpSp>
        <p:nvGrpSpPr>
          <p:cNvPr id="21" name="Group 21"/>
          <p:cNvGrpSpPr/>
          <p:nvPr/>
        </p:nvGrpSpPr>
        <p:grpSpPr>
          <a:xfrm>
            <a:off x="4700487" y="7158952"/>
            <a:ext cx="4604177" cy="1804558"/>
            <a:chOff x="0" y="0"/>
            <a:chExt cx="1555343" cy="609600"/>
          </a:xfrm>
        </p:grpSpPr>
        <p:sp>
          <p:nvSpPr>
            <p:cNvPr id="22" name="Freeform 22"/>
            <p:cNvSpPr/>
            <p:nvPr/>
          </p:nvSpPr>
          <p:spPr>
            <a:xfrm>
              <a:off x="0" y="0"/>
              <a:ext cx="1555343" cy="609600"/>
            </a:xfrm>
            <a:custGeom>
              <a:avLst/>
              <a:gdLst/>
              <a:ahLst/>
              <a:cxnLst/>
              <a:rect l="l" t="t" r="r" b="b"/>
              <a:pathLst>
                <a:path w="1555343" h="609600">
                  <a:moveTo>
                    <a:pt x="203200" y="0"/>
                  </a:moveTo>
                  <a:lnTo>
                    <a:pt x="1555343" y="0"/>
                  </a:lnTo>
                  <a:lnTo>
                    <a:pt x="1352143" y="609600"/>
                  </a:lnTo>
                  <a:lnTo>
                    <a:pt x="0" y="609600"/>
                  </a:lnTo>
                  <a:lnTo>
                    <a:pt x="203200" y="0"/>
                  </a:lnTo>
                  <a:close/>
                </a:path>
              </a:pathLst>
            </a:custGeom>
            <a:blipFill>
              <a:blip r:embed="rId8">
                <a:alphaModFix amt="90000"/>
              </a:blip>
              <a:stretch>
                <a:fillRect t="-45562" b="-45562"/>
              </a:stretch>
            </a:blipFill>
          </p:spPr>
        </p:sp>
      </p:grpSp>
      <p:grpSp>
        <p:nvGrpSpPr>
          <p:cNvPr id="23" name="Group 23"/>
          <p:cNvGrpSpPr/>
          <p:nvPr/>
        </p:nvGrpSpPr>
        <p:grpSpPr>
          <a:xfrm>
            <a:off x="8985438" y="7158952"/>
            <a:ext cx="4604177" cy="1804558"/>
            <a:chOff x="0" y="0"/>
            <a:chExt cx="1555343" cy="609600"/>
          </a:xfrm>
        </p:grpSpPr>
        <p:sp>
          <p:nvSpPr>
            <p:cNvPr id="24" name="Freeform 24"/>
            <p:cNvSpPr/>
            <p:nvPr/>
          </p:nvSpPr>
          <p:spPr>
            <a:xfrm>
              <a:off x="0" y="0"/>
              <a:ext cx="1555343" cy="609600"/>
            </a:xfrm>
            <a:custGeom>
              <a:avLst/>
              <a:gdLst/>
              <a:ahLst/>
              <a:cxnLst/>
              <a:rect l="l" t="t" r="r" b="b"/>
              <a:pathLst>
                <a:path w="1555343" h="609600">
                  <a:moveTo>
                    <a:pt x="203200" y="0"/>
                  </a:moveTo>
                  <a:lnTo>
                    <a:pt x="1555343" y="0"/>
                  </a:lnTo>
                  <a:lnTo>
                    <a:pt x="1352143" y="609600"/>
                  </a:lnTo>
                  <a:lnTo>
                    <a:pt x="0" y="609600"/>
                  </a:lnTo>
                  <a:lnTo>
                    <a:pt x="203200" y="0"/>
                  </a:lnTo>
                  <a:close/>
                </a:path>
              </a:pathLst>
            </a:custGeom>
            <a:blipFill>
              <a:blip r:embed="rId9">
                <a:alphaModFix amt="90000"/>
              </a:blip>
              <a:stretch>
                <a:fillRect t="-16358" b="-74765"/>
              </a:stretch>
            </a:blipFill>
          </p:spPr>
        </p:sp>
      </p:grpSp>
      <p:sp>
        <p:nvSpPr>
          <p:cNvPr id="25" name="TextBox 25"/>
          <p:cNvSpPr txBox="1"/>
          <p:nvPr/>
        </p:nvSpPr>
        <p:spPr>
          <a:xfrm>
            <a:off x="4883981" y="1201983"/>
            <a:ext cx="8520038" cy="1110994"/>
          </a:xfrm>
          <a:prstGeom prst="rect">
            <a:avLst/>
          </a:prstGeom>
        </p:spPr>
        <p:txBody>
          <a:bodyPr lIns="0" tIns="0" rIns="0" bIns="0" rtlCol="0" anchor="t">
            <a:spAutoFit/>
          </a:bodyPr>
          <a:lstStyle/>
          <a:p>
            <a:pPr algn="ctr">
              <a:lnSpc>
                <a:spcPts val="9112"/>
              </a:lnSpc>
              <a:spcBef>
                <a:spcPct val="0"/>
              </a:spcBef>
            </a:pPr>
            <a:r>
              <a:rPr lang="en-US" sz="6508">
                <a:solidFill>
                  <a:srgbClr val="000000"/>
                </a:solidFill>
                <a:latin typeface="Norwester"/>
                <a:ea typeface="Norwester"/>
                <a:cs typeface="Norwester"/>
                <a:sym typeface="Norwester"/>
              </a:rPr>
              <a:t>THANK YOU DEPDev - CAR!</a:t>
            </a:r>
          </a:p>
        </p:txBody>
      </p:sp>
      <p:grpSp>
        <p:nvGrpSpPr>
          <p:cNvPr id="26" name="Group 26"/>
          <p:cNvGrpSpPr/>
          <p:nvPr/>
        </p:nvGrpSpPr>
        <p:grpSpPr>
          <a:xfrm>
            <a:off x="13268287" y="7158952"/>
            <a:ext cx="4604177" cy="1804558"/>
            <a:chOff x="0" y="0"/>
            <a:chExt cx="1555343" cy="609600"/>
          </a:xfrm>
        </p:grpSpPr>
        <p:sp>
          <p:nvSpPr>
            <p:cNvPr id="27" name="Freeform 27"/>
            <p:cNvSpPr/>
            <p:nvPr/>
          </p:nvSpPr>
          <p:spPr>
            <a:xfrm>
              <a:off x="0" y="0"/>
              <a:ext cx="1555343" cy="609600"/>
            </a:xfrm>
            <a:custGeom>
              <a:avLst/>
              <a:gdLst/>
              <a:ahLst/>
              <a:cxnLst/>
              <a:rect l="l" t="t" r="r" b="b"/>
              <a:pathLst>
                <a:path w="1555343" h="609600">
                  <a:moveTo>
                    <a:pt x="203200" y="0"/>
                  </a:moveTo>
                  <a:lnTo>
                    <a:pt x="1555343" y="0"/>
                  </a:lnTo>
                  <a:lnTo>
                    <a:pt x="1352143" y="609600"/>
                  </a:lnTo>
                  <a:lnTo>
                    <a:pt x="0" y="609600"/>
                  </a:lnTo>
                  <a:lnTo>
                    <a:pt x="203200" y="0"/>
                  </a:lnTo>
                  <a:close/>
                </a:path>
              </a:pathLst>
            </a:custGeom>
            <a:blipFill>
              <a:blip r:embed="rId10">
                <a:alphaModFix amt="90000"/>
              </a:blip>
              <a:stretch>
                <a:fillRect t="-134336" b="-106265"/>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864</Words>
  <Application>Microsoft Office PowerPoint</Application>
  <PresentationFormat>Custom</PresentationFormat>
  <Paragraphs>100</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Calibri</vt:lpstr>
      <vt:lpstr>Archivo Narrow Bold</vt:lpstr>
      <vt:lpstr>Arial</vt:lpstr>
      <vt:lpstr>Archivo Narrow</vt:lpstr>
      <vt:lpstr>Glacial Indifference Bold</vt:lpstr>
      <vt:lpstr>Bricolage Grotesque</vt:lpstr>
      <vt:lpstr>Glacial Indifference</vt:lpstr>
      <vt:lpstr>Norwester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ECONOMY PLANNING AND DEVELOPMENT</dc:title>
  <cp:lastModifiedBy>Ian Jay Macaraeg</cp:lastModifiedBy>
  <cp:revision>2</cp:revision>
  <dcterms:created xsi:type="dcterms:W3CDTF">2006-08-16T00:00:00Z</dcterms:created>
  <dcterms:modified xsi:type="dcterms:W3CDTF">2026-05-09T05:34:14Z</dcterms:modified>
  <dc:identifier>DAGoySB-n4I</dc:identifier>
</cp:coreProperties>
</file>